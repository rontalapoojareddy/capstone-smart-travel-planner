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64" r:id="rId1"/>
  </p:sldMasterIdLst>
  <p:notesMasterIdLst>
    <p:notesMasterId r:id="rId23"/>
  </p:notesMasterIdLst>
  <p:sldIdLst>
    <p:sldId id="256" r:id="rId2"/>
    <p:sldId id="271" r:id="rId3"/>
    <p:sldId id="258" r:id="rId4"/>
    <p:sldId id="269" r:id="rId5"/>
    <p:sldId id="260" r:id="rId6"/>
    <p:sldId id="259" r:id="rId7"/>
    <p:sldId id="264" r:id="rId8"/>
    <p:sldId id="267" r:id="rId9"/>
    <p:sldId id="268" r:id="rId10"/>
    <p:sldId id="261" r:id="rId11"/>
    <p:sldId id="270" r:id="rId12"/>
    <p:sldId id="266" r:id="rId13"/>
    <p:sldId id="265" r:id="rId14"/>
    <p:sldId id="277" r:id="rId15"/>
    <p:sldId id="274" r:id="rId16"/>
    <p:sldId id="278" r:id="rId17"/>
    <p:sldId id="272" r:id="rId18"/>
    <p:sldId id="273" r:id="rId19"/>
    <p:sldId id="275" r:id="rId20"/>
    <p:sldId id="276" r:id="rId21"/>
    <p:sldId id="257"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0" d="100"/>
          <a:sy n="80" d="100"/>
        </p:scale>
        <p:origin x="58" y="17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721009-695D-4685-B711-D024CA030439}" type="datetimeFigureOut">
              <a:rPr lang="en-IN" smtClean="0"/>
              <a:t>28-11-2024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AD6585-1C40-420E-8FA7-1E52FBE98E35}" type="slidenum">
              <a:rPr lang="en-IN" smtClean="0"/>
              <a:t>‹#›</a:t>
            </a:fld>
            <a:endParaRPr lang="en-IN"/>
          </a:p>
        </p:txBody>
      </p:sp>
    </p:spTree>
    <p:extLst>
      <p:ext uri="{BB962C8B-B14F-4D97-AF65-F5344CB8AC3E}">
        <p14:creationId xmlns:p14="http://schemas.microsoft.com/office/powerpoint/2010/main" val="2009586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AD6585-1C40-420E-8FA7-1E52FBE98E35}" type="slidenum">
              <a:rPr lang="en-IN" smtClean="0"/>
              <a:t>1</a:t>
            </a:fld>
            <a:endParaRPr lang="en-IN"/>
          </a:p>
        </p:txBody>
      </p:sp>
    </p:spTree>
    <p:extLst>
      <p:ext uri="{BB962C8B-B14F-4D97-AF65-F5344CB8AC3E}">
        <p14:creationId xmlns:p14="http://schemas.microsoft.com/office/powerpoint/2010/main" val="21322762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AD6585-1C40-420E-8FA7-1E52FBE98E35}" type="slidenum">
              <a:rPr lang="en-IN" smtClean="0"/>
              <a:t>3</a:t>
            </a:fld>
            <a:endParaRPr lang="en-IN"/>
          </a:p>
        </p:txBody>
      </p:sp>
    </p:spTree>
    <p:extLst>
      <p:ext uri="{BB962C8B-B14F-4D97-AF65-F5344CB8AC3E}">
        <p14:creationId xmlns:p14="http://schemas.microsoft.com/office/powerpoint/2010/main" val="2513761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AD6585-1C40-420E-8FA7-1E52FBE98E35}" type="slidenum">
              <a:rPr lang="en-IN" smtClean="0"/>
              <a:t>4</a:t>
            </a:fld>
            <a:endParaRPr lang="en-IN"/>
          </a:p>
        </p:txBody>
      </p:sp>
    </p:spTree>
    <p:extLst>
      <p:ext uri="{BB962C8B-B14F-4D97-AF65-F5344CB8AC3E}">
        <p14:creationId xmlns:p14="http://schemas.microsoft.com/office/powerpoint/2010/main" val="28169759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AD6585-1C40-420E-8FA7-1E52FBE98E35}" type="slidenum">
              <a:rPr lang="en-IN" smtClean="0"/>
              <a:t>5</a:t>
            </a:fld>
            <a:endParaRPr lang="en-IN"/>
          </a:p>
        </p:txBody>
      </p:sp>
    </p:spTree>
    <p:extLst>
      <p:ext uri="{BB962C8B-B14F-4D97-AF65-F5344CB8AC3E}">
        <p14:creationId xmlns:p14="http://schemas.microsoft.com/office/powerpoint/2010/main" val="3911807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AD6585-1C40-420E-8FA7-1E52FBE98E35}" type="slidenum">
              <a:rPr lang="en-IN" smtClean="0"/>
              <a:t>6</a:t>
            </a:fld>
            <a:endParaRPr lang="en-IN"/>
          </a:p>
        </p:txBody>
      </p:sp>
    </p:spTree>
    <p:extLst>
      <p:ext uri="{BB962C8B-B14F-4D97-AF65-F5344CB8AC3E}">
        <p14:creationId xmlns:p14="http://schemas.microsoft.com/office/powerpoint/2010/main" val="16498966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5"/>
          </p:nvPr>
        </p:nvSpPr>
        <p:spPr/>
        <p:txBody>
          <a:bodyPr/>
          <a:lstStyle/>
          <a:p>
            <a:fld id="{56AD6585-1C40-420E-8FA7-1E52FBE98E35}" type="slidenum">
              <a:rPr lang="en-IN" smtClean="0"/>
              <a:t>10</a:t>
            </a:fld>
            <a:endParaRPr lang="en-IN"/>
          </a:p>
        </p:txBody>
      </p:sp>
    </p:spTree>
    <p:extLst>
      <p:ext uri="{BB962C8B-B14F-4D97-AF65-F5344CB8AC3E}">
        <p14:creationId xmlns:p14="http://schemas.microsoft.com/office/powerpoint/2010/main" val="4991672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AD6585-1C40-420E-8FA7-1E52FBE98E35}" type="slidenum">
              <a:rPr lang="en-IN" smtClean="0"/>
              <a:t>11</a:t>
            </a:fld>
            <a:endParaRPr lang="en-IN"/>
          </a:p>
        </p:txBody>
      </p:sp>
    </p:spTree>
    <p:extLst>
      <p:ext uri="{BB962C8B-B14F-4D97-AF65-F5344CB8AC3E}">
        <p14:creationId xmlns:p14="http://schemas.microsoft.com/office/powerpoint/2010/main" val="27150545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AD6585-1C40-420E-8FA7-1E52FBE98E35}" type="slidenum">
              <a:rPr lang="en-IN" smtClean="0"/>
              <a:t>13</a:t>
            </a:fld>
            <a:endParaRPr lang="en-IN"/>
          </a:p>
        </p:txBody>
      </p:sp>
    </p:spTree>
    <p:extLst>
      <p:ext uri="{BB962C8B-B14F-4D97-AF65-F5344CB8AC3E}">
        <p14:creationId xmlns:p14="http://schemas.microsoft.com/office/powerpoint/2010/main" val="41998554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AD6585-1C40-420E-8FA7-1E52FBE98E35}" type="slidenum">
              <a:rPr lang="en-IN" smtClean="0"/>
              <a:t>14</a:t>
            </a:fld>
            <a:endParaRPr lang="en-IN"/>
          </a:p>
        </p:txBody>
      </p:sp>
    </p:spTree>
    <p:extLst>
      <p:ext uri="{BB962C8B-B14F-4D97-AF65-F5344CB8AC3E}">
        <p14:creationId xmlns:p14="http://schemas.microsoft.com/office/powerpoint/2010/main" val="42938118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AD6585-1C40-420E-8FA7-1E52FBE98E35}" type="slidenum">
              <a:rPr lang="en-IN" smtClean="0"/>
              <a:t>15</a:t>
            </a:fld>
            <a:endParaRPr lang="en-IN"/>
          </a:p>
        </p:txBody>
      </p:sp>
    </p:spTree>
    <p:extLst>
      <p:ext uri="{BB962C8B-B14F-4D97-AF65-F5344CB8AC3E}">
        <p14:creationId xmlns:p14="http://schemas.microsoft.com/office/powerpoint/2010/main" val="42047607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AD6585-1C40-420E-8FA7-1E52FBE98E35}" type="slidenum">
              <a:rPr lang="en-IN" smtClean="0"/>
              <a:t>17</a:t>
            </a:fld>
            <a:endParaRPr lang="en-IN"/>
          </a:p>
        </p:txBody>
      </p:sp>
    </p:spTree>
    <p:extLst>
      <p:ext uri="{BB962C8B-B14F-4D97-AF65-F5344CB8AC3E}">
        <p14:creationId xmlns:p14="http://schemas.microsoft.com/office/powerpoint/2010/main" val="41636118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AD6585-1C40-420E-8FA7-1E52FBE98E35}" type="slidenum">
              <a:rPr lang="en-IN" smtClean="0"/>
              <a:t>18</a:t>
            </a:fld>
            <a:endParaRPr lang="en-IN"/>
          </a:p>
        </p:txBody>
      </p:sp>
    </p:spTree>
    <p:extLst>
      <p:ext uri="{BB962C8B-B14F-4D97-AF65-F5344CB8AC3E}">
        <p14:creationId xmlns:p14="http://schemas.microsoft.com/office/powerpoint/2010/main" val="15140106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FE5B59F-3C19-4080-88D6-29FEC7101008}" type="datetimeFigureOut">
              <a:rPr lang="en-IN" smtClean="0"/>
              <a:t>28-11-2024</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0025D271-C3FA-4E5B-88EA-FB132854F61C}" type="slidenum">
              <a:rPr lang="en-IN" smtClean="0"/>
              <a:t>‹#›</a:t>
            </a:fld>
            <a:endParaRPr lang="en-IN"/>
          </a:p>
        </p:txBody>
      </p:sp>
    </p:spTree>
    <p:extLst>
      <p:ext uri="{BB962C8B-B14F-4D97-AF65-F5344CB8AC3E}">
        <p14:creationId xmlns:p14="http://schemas.microsoft.com/office/powerpoint/2010/main" val="3926891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E5B59F-3C19-4080-88D6-29FEC7101008}" type="datetimeFigureOut">
              <a:rPr lang="en-IN" smtClean="0"/>
              <a:t>28-11-2024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025D271-C3FA-4E5B-88EA-FB132854F61C}" type="slidenum">
              <a:rPr lang="en-IN" smtClean="0"/>
              <a:t>‹#›</a:t>
            </a:fld>
            <a:endParaRPr lang="en-IN"/>
          </a:p>
        </p:txBody>
      </p:sp>
    </p:spTree>
    <p:extLst>
      <p:ext uri="{BB962C8B-B14F-4D97-AF65-F5344CB8AC3E}">
        <p14:creationId xmlns:p14="http://schemas.microsoft.com/office/powerpoint/2010/main" val="3222666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E5B59F-3C19-4080-88D6-29FEC7101008}" type="datetimeFigureOut">
              <a:rPr lang="en-IN" smtClean="0"/>
              <a:t>28-11-2024</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025D271-C3FA-4E5B-88EA-FB132854F61C}" type="slidenum">
              <a:rPr lang="en-IN" smtClean="0"/>
              <a:t>‹#›</a:t>
            </a:fld>
            <a:endParaRPr lang="en-IN"/>
          </a:p>
        </p:txBody>
      </p:sp>
    </p:spTree>
    <p:extLst>
      <p:ext uri="{BB962C8B-B14F-4D97-AF65-F5344CB8AC3E}">
        <p14:creationId xmlns:p14="http://schemas.microsoft.com/office/powerpoint/2010/main" val="1107384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FE5B59F-3C19-4080-88D6-29FEC7101008}" type="datetimeFigureOut">
              <a:rPr lang="en-IN" smtClean="0"/>
              <a:t>28-11-2024</a:t>
            </a:fld>
            <a:endParaRPr lang="en-IN"/>
          </a:p>
        </p:txBody>
      </p:sp>
      <p:sp>
        <p:nvSpPr>
          <p:cNvPr id="6" name="Footer Placeholder 5"/>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0025D271-C3FA-4E5B-88EA-FB132854F61C}" type="slidenum">
              <a:rPr lang="en-IN" smtClean="0"/>
              <a:t>‹#›</a:t>
            </a:fld>
            <a:endParaRPr lang="en-IN"/>
          </a:p>
        </p:txBody>
      </p:sp>
    </p:spTree>
    <p:extLst>
      <p:ext uri="{BB962C8B-B14F-4D97-AF65-F5344CB8AC3E}">
        <p14:creationId xmlns:p14="http://schemas.microsoft.com/office/powerpoint/2010/main" val="2390007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E5B59F-3C19-4080-88D6-29FEC7101008}" type="datetimeFigureOut">
              <a:rPr lang="en-IN" smtClean="0"/>
              <a:t>28-11-2024</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0025D271-C3FA-4E5B-88EA-FB132854F61C}" type="slidenum">
              <a:rPr lang="en-IN" smtClean="0"/>
              <a:t>‹#›</a:t>
            </a:fld>
            <a:endParaRPr lang="en-IN"/>
          </a:p>
        </p:txBody>
      </p:sp>
    </p:spTree>
    <p:extLst>
      <p:ext uri="{BB962C8B-B14F-4D97-AF65-F5344CB8AC3E}">
        <p14:creationId xmlns:p14="http://schemas.microsoft.com/office/powerpoint/2010/main" val="2484683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FE5B59F-3C19-4080-88D6-29FEC7101008}" type="datetimeFigureOut">
              <a:rPr lang="en-IN" smtClean="0"/>
              <a:t>28-11-2024</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0025D271-C3FA-4E5B-88EA-FB132854F61C}" type="slidenum">
              <a:rPr lang="en-IN" smtClean="0"/>
              <a:t>‹#›</a:t>
            </a:fld>
            <a:endParaRPr lang="en-IN"/>
          </a:p>
        </p:txBody>
      </p:sp>
    </p:spTree>
    <p:extLst>
      <p:ext uri="{BB962C8B-B14F-4D97-AF65-F5344CB8AC3E}">
        <p14:creationId xmlns:p14="http://schemas.microsoft.com/office/powerpoint/2010/main" val="3331904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E5B59F-3C19-4080-88D6-29FEC7101008}" type="datetimeFigureOut">
              <a:rPr lang="en-IN" smtClean="0"/>
              <a:t>28-11-2024</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0025D271-C3FA-4E5B-88EA-FB132854F61C}" type="slidenum">
              <a:rPr lang="en-IN" smtClean="0"/>
              <a:t>‹#›</a:t>
            </a:fld>
            <a:endParaRPr lang="en-IN"/>
          </a:p>
        </p:txBody>
      </p:sp>
    </p:spTree>
    <p:extLst>
      <p:ext uri="{BB962C8B-B14F-4D97-AF65-F5344CB8AC3E}">
        <p14:creationId xmlns:p14="http://schemas.microsoft.com/office/powerpoint/2010/main" val="159236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FE5B59F-3C19-4080-88D6-29FEC7101008}" type="datetimeFigureOut">
              <a:rPr lang="en-IN" smtClean="0"/>
              <a:t>28-11-2024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0025D271-C3FA-4E5B-88EA-FB132854F61C}" type="slidenum">
              <a:rPr lang="en-IN" smtClean="0"/>
              <a:t>‹#›</a:t>
            </a:fld>
            <a:endParaRPr lang="en-IN"/>
          </a:p>
        </p:txBody>
      </p:sp>
    </p:spTree>
    <p:extLst>
      <p:ext uri="{BB962C8B-B14F-4D97-AF65-F5344CB8AC3E}">
        <p14:creationId xmlns:p14="http://schemas.microsoft.com/office/powerpoint/2010/main" val="1844024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FE5B59F-3C19-4080-88D6-29FEC7101008}" type="datetimeFigureOut">
              <a:rPr lang="en-IN" smtClean="0"/>
              <a:t>28-11-2024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025D271-C3FA-4E5B-88EA-FB132854F61C}" type="slidenum">
              <a:rPr lang="en-IN" smtClean="0"/>
              <a:t>‹#›</a:t>
            </a:fld>
            <a:endParaRPr lang="en-IN"/>
          </a:p>
        </p:txBody>
      </p:sp>
    </p:spTree>
    <p:extLst>
      <p:ext uri="{BB962C8B-B14F-4D97-AF65-F5344CB8AC3E}">
        <p14:creationId xmlns:p14="http://schemas.microsoft.com/office/powerpoint/2010/main" val="2482479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E5B59F-3C19-4080-88D6-29FEC7101008}" type="datetimeFigureOut">
              <a:rPr lang="en-IN" smtClean="0"/>
              <a:t>28-11-2024</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025D271-C3FA-4E5B-88EA-FB132854F61C}" type="slidenum">
              <a:rPr lang="en-IN" smtClean="0"/>
              <a:t>‹#›</a:t>
            </a:fld>
            <a:endParaRPr lang="en-IN"/>
          </a:p>
        </p:txBody>
      </p:sp>
    </p:spTree>
    <p:extLst>
      <p:ext uri="{BB962C8B-B14F-4D97-AF65-F5344CB8AC3E}">
        <p14:creationId xmlns:p14="http://schemas.microsoft.com/office/powerpoint/2010/main" val="4233885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E5B59F-3C19-4080-88D6-29FEC7101008}" type="datetimeFigureOut">
              <a:rPr lang="en-IN" smtClean="0"/>
              <a:t>28-11-2024</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025D271-C3FA-4E5B-88EA-FB132854F61C}"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280356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FE5B59F-3C19-4080-88D6-29FEC7101008}" type="datetimeFigureOut">
              <a:rPr lang="en-IN" smtClean="0"/>
              <a:t>28-11-2024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025D271-C3FA-4E5B-88EA-FB132854F61C}" type="slidenum">
              <a:rPr lang="en-IN" smtClean="0"/>
              <a:t>‹#›</a:t>
            </a:fld>
            <a:endParaRPr lang="en-IN"/>
          </a:p>
        </p:txBody>
      </p:sp>
    </p:spTree>
    <p:extLst>
      <p:ext uri="{BB962C8B-B14F-4D97-AF65-F5344CB8AC3E}">
        <p14:creationId xmlns:p14="http://schemas.microsoft.com/office/powerpoint/2010/main" val="3937171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FE5B59F-3C19-4080-88D6-29FEC7101008}" type="datetimeFigureOut">
              <a:rPr lang="en-IN" smtClean="0"/>
              <a:t>28-11-2024</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025D271-C3FA-4E5B-88EA-FB132854F61C}"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05180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FE5B59F-3C19-4080-88D6-29FEC7101008}" type="datetimeFigureOut">
              <a:rPr lang="en-IN" smtClean="0"/>
              <a:t>28-11-2024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025D271-C3FA-4E5B-88EA-FB132854F61C}" type="slidenum">
              <a:rPr lang="en-IN" smtClean="0"/>
              <a:t>‹#›</a:t>
            </a:fld>
            <a:endParaRPr lang="en-IN"/>
          </a:p>
        </p:txBody>
      </p:sp>
    </p:spTree>
    <p:extLst>
      <p:ext uri="{BB962C8B-B14F-4D97-AF65-F5344CB8AC3E}">
        <p14:creationId xmlns:p14="http://schemas.microsoft.com/office/powerpoint/2010/main" val="1528325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E5B59F-3C19-4080-88D6-29FEC7101008}" type="datetimeFigureOut">
              <a:rPr lang="en-IN" smtClean="0"/>
              <a:t>28-11-2024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025D271-C3FA-4E5B-88EA-FB132854F61C}" type="slidenum">
              <a:rPr lang="en-IN" smtClean="0"/>
              <a:t>‹#›</a:t>
            </a:fld>
            <a:endParaRPr lang="en-IN"/>
          </a:p>
        </p:txBody>
      </p:sp>
    </p:spTree>
    <p:extLst>
      <p:ext uri="{BB962C8B-B14F-4D97-AF65-F5344CB8AC3E}">
        <p14:creationId xmlns:p14="http://schemas.microsoft.com/office/powerpoint/2010/main" val="2654503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E5B59F-3C19-4080-88D6-29FEC7101008}" type="datetimeFigureOut">
              <a:rPr lang="en-IN" smtClean="0"/>
              <a:t>28-11-2024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025D271-C3FA-4E5B-88EA-FB132854F61C}" type="slidenum">
              <a:rPr lang="en-IN" smtClean="0"/>
              <a:t>‹#›</a:t>
            </a:fld>
            <a:endParaRPr lang="en-IN"/>
          </a:p>
        </p:txBody>
      </p:sp>
    </p:spTree>
    <p:extLst>
      <p:ext uri="{BB962C8B-B14F-4D97-AF65-F5344CB8AC3E}">
        <p14:creationId xmlns:p14="http://schemas.microsoft.com/office/powerpoint/2010/main" val="2134420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3FE5B59F-3C19-4080-88D6-29FEC7101008}" type="datetimeFigureOut">
              <a:rPr lang="en-IN" smtClean="0"/>
              <a:t>28-11-2024</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0025D271-C3FA-4E5B-88EA-FB132854F61C}" type="slidenum">
              <a:rPr lang="en-IN" smtClean="0"/>
              <a:t>‹#›</a:t>
            </a:fld>
            <a:endParaRPr lang="en-IN"/>
          </a:p>
        </p:txBody>
      </p:sp>
    </p:spTree>
    <p:extLst>
      <p:ext uri="{BB962C8B-B14F-4D97-AF65-F5344CB8AC3E}">
        <p14:creationId xmlns:p14="http://schemas.microsoft.com/office/powerpoint/2010/main" val="41029305"/>
      </p:ext>
    </p:extLst>
  </p:cSld>
  <p:clrMap bg1="lt1" tx1="dk1" bg2="lt2" tx2="dk2" accent1="accent1" accent2="accent2" accent3="accent3" accent4="accent4" accent5="accent5" accent6="accent6" hlink="hlink" folHlink="folHlink"/>
  <p:sldLayoutIdLst>
    <p:sldLayoutId id="2147483965" r:id="rId1"/>
    <p:sldLayoutId id="2147483966" r:id="rId2"/>
    <p:sldLayoutId id="2147483967" r:id="rId3"/>
    <p:sldLayoutId id="2147483968" r:id="rId4"/>
    <p:sldLayoutId id="2147483969" r:id="rId5"/>
    <p:sldLayoutId id="2147483970" r:id="rId6"/>
    <p:sldLayoutId id="2147483971" r:id="rId7"/>
    <p:sldLayoutId id="2147483972" r:id="rId8"/>
    <p:sldLayoutId id="2147483973" r:id="rId9"/>
    <p:sldLayoutId id="2147483974" r:id="rId10"/>
    <p:sldLayoutId id="2147483975" r:id="rId11"/>
    <p:sldLayoutId id="2147483976" r:id="rId12"/>
    <p:sldLayoutId id="2147483977" r:id="rId13"/>
    <p:sldLayoutId id="2147483978" r:id="rId14"/>
    <p:sldLayoutId id="2147483979" r:id="rId15"/>
    <p:sldLayoutId id="2147483980" r:id="rId1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BAFFB48-6823-4B55-682B-5927C93B3749}"/>
              </a:ext>
            </a:extLst>
          </p:cNvPr>
          <p:cNvPicPr>
            <a:picLocks noChangeAspect="1"/>
          </p:cNvPicPr>
          <p:nvPr/>
        </p:nvPicPr>
        <p:blipFill>
          <a:blip r:embed="rId3"/>
          <a:srcRect l="8644" t="6092" r="7005"/>
          <a:stretch/>
        </p:blipFill>
        <p:spPr>
          <a:xfrm>
            <a:off x="1150070" y="1968067"/>
            <a:ext cx="4487159" cy="437616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5" name="TextBox 4">
            <a:extLst>
              <a:ext uri="{FF2B5EF4-FFF2-40B4-BE49-F238E27FC236}">
                <a16:creationId xmlns:a16="http://schemas.microsoft.com/office/drawing/2014/main" id="{31656538-A372-3F54-B937-5D70578B4D1E}"/>
              </a:ext>
            </a:extLst>
          </p:cNvPr>
          <p:cNvSpPr txBox="1"/>
          <p:nvPr/>
        </p:nvSpPr>
        <p:spPr>
          <a:xfrm>
            <a:off x="3659958" y="489349"/>
            <a:ext cx="6094428" cy="707886"/>
          </a:xfrm>
          <a:prstGeom prst="rect">
            <a:avLst/>
          </a:prstGeom>
          <a:noFill/>
        </p:spPr>
        <p:txBody>
          <a:bodyPr wrap="square">
            <a:spAutoFit/>
          </a:bodyPr>
          <a:lstStyle/>
          <a:p>
            <a:pPr algn="ctr"/>
            <a:r>
              <a:rPr lang="en-IN" sz="4000" b="1" u="sng" dirty="0"/>
              <a:t>SMART TRAVEL PLANNER</a:t>
            </a:r>
          </a:p>
        </p:txBody>
      </p:sp>
      <p:sp>
        <p:nvSpPr>
          <p:cNvPr id="7" name="TextBox 6">
            <a:extLst>
              <a:ext uri="{FF2B5EF4-FFF2-40B4-BE49-F238E27FC236}">
                <a16:creationId xmlns:a16="http://schemas.microsoft.com/office/drawing/2014/main" id="{2091F7EC-557F-7773-2D8E-08D87E888F8F}"/>
              </a:ext>
            </a:extLst>
          </p:cNvPr>
          <p:cNvSpPr txBox="1"/>
          <p:nvPr/>
        </p:nvSpPr>
        <p:spPr>
          <a:xfrm>
            <a:off x="6619974" y="2403710"/>
            <a:ext cx="6094428" cy="2177840"/>
          </a:xfrm>
          <a:prstGeom prst="rect">
            <a:avLst/>
          </a:prstGeom>
          <a:noFill/>
        </p:spPr>
        <p:txBody>
          <a:bodyPr wrap="square">
            <a:spAutoFit/>
          </a:bodyPr>
          <a:lstStyle/>
          <a:p>
            <a:pPr>
              <a:lnSpc>
                <a:spcPct val="115000"/>
              </a:lnSpc>
              <a:spcAft>
                <a:spcPts val="1000"/>
              </a:spcAft>
            </a:pPr>
            <a:r>
              <a:rPr lang="en-US" dirty="0">
                <a:effectLst/>
                <a:latin typeface="Times New Roman" panose="02020603050405020304" pitchFamily="18" charset="0"/>
                <a:ea typeface="Calibri" panose="020F0502020204030204" pitchFamily="34" charset="0"/>
                <a:cs typeface="Mangal" panose="02040503050203030202" pitchFamily="18" charset="0"/>
              </a:rPr>
              <a:t>2103A51067           	Rontala Pooja Reddy</a:t>
            </a:r>
          </a:p>
          <a:p>
            <a:pPr>
              <a:lnSpc>
                <a:spcPct val="115000"/>
              </a:lnSpc>
              <a:spcAft>
                <a:spcPts val="1000"/>
              </a:spcAft>
            </a:pPr>
            <a:r>
              <a:rPr lang="en-US" dirty="0">
                <a:effectLst/>
                <a:latin typeface="Times New Roman" panose="02020603050405020304" pitchFamily="18" charset="0"/>
                <a:ea typeface="Calibri" panose="020F0502020204030204" pitchFamily="34" charset="0"/>
                <a:cs typeface="Mangal" panose="02040503050203030202" pitchFamily="18" charset="0"/>
              </a:rPr>
              <a:t>2103A51550		</a:t>
            </a:r>
            <a:r>
              <a:rPr lang="en-US" dirty="0" err="1">
                <a:effectLst/>
                <a:latin typeface="Times New Roman" panose="02020603050405020304" pitchFamily="18" charset="0"/>
                <a:ea typeface="Calibri" panose="020F0502020204030204" pitchFamily="34" charset="0"/>
                <a:cs typeface="Mangal" panose="02040503050203030202" pitchFamily="18" charset="0"/>
              </a:rPr>
              <a:t>Bathini</a:t>
            </a:r>
            <a:r>
              <a:rPr lang="en-US" dirty="0">
                <a:effectLst/>
                <a:latin typeface="Times New Roman" panose="02020603050405020304" pitchFamily="18" charset="0"/>
                <a:ea typeface="Calibri" panose="020F0502020204030204" pitchFamily="34" charset="0"/>
                <a:cs typeface="Mangal" panose="02040503050203030202" pitchFamily="18" charset="0"/>
              </a:rPr>
              <a:t> Shiva </a:t>
            </a:r>
            <a:r>
              <a:rPr lang="en-US" dirty="0" err="1">
                <a:effectLst/>
                <a:latin typeface="Times New Roman" panose="02020603050405020304" pitchFamily="18" charset="0"/>
                <a:ea typeface="Calibri" panose="020F0502020204030204" pitchFamily="34" charset="0"/>
                <a:cs typeface="Mangal" panose="02040503050203030202" pitchFamily="18" charset="0"/>
              </a:rPr>
              <a:t>Sathvika</a:t>
            </a:r>
            <a:endParaRPr lang="en-US" dirty="0">
              <a:effectLst/>
              <a:latin typeface="Times New Roman" panose="02020603050405020304" pitchFamily="18" charset="0"/>
              <a:ea typeface="Calibri" panose="020F0502020204030204" pitchFamily="34" charset="0"/>
              <a:cs typeface="Mangal" panose="02040503050203030202" pitchFamily="18" charset="0"/>
            </a:endParaRPr>
          </a:p>
          <a:p>
            <a:pPr>
              <a:lnSpc>
                <a:spcPct val="115000"/>
              </a:lnSpc>
              <a:spcAft>
                <a:spcPts val="1000"/>
              </a:spcAft>
            </a:pPr>
            <a:r>
              <a:rPr lang="en-US" dirty="0">
                <a:effectLst/>
                <a:latin typeface="Times New Roman" panose="02020603050405020304" pitchFamily="18" charset="0"/>
                <a:ea typeface="Calibri" panose="020F0502020204030204" pitchFamily="34" charset="0"/>
                <a:cs typeface="Mangal" panose="02040503050203030202" pitchFamily="18" charset="0"/>
              </a:rPr>
              <a:t>2103A51571		</a:t>
            </a:r>
            <a:r>
              <a:rPr lang="en-US" dirty="0" err="1">
                <a:effectLst/>
                <a:latin typeface="Times New Roman" panose="02020603050405020304" pitchFamily="18" charset="0"/>
                <a:ea typeface="Calibri" panose="020F0502020204030204" pitchFamily="34" charset="0"/>
                <a:cs typeface="Mangal" panose="02040503050203030202" pitchFamily="18" charset="0"/>
              </a:rPr>
              <a:t>Podishetti</a:t>
            </a:r>
            <a:r>
              <a:rPr lang="en-US" dirty="0">
                <a:effectLst/>
                <a:latin typeface="Times New Roman" panose="02020603050405020304" pitchFamily="18" charset="0"/>
                <a:ea typeface="Calibri" panose="020F0502020204030204" pitchFamily="34" charset="0"/>
                <a:cs typeface="Mangal" panose="02040503050203030202" pitchFamily="18" charset="0"/>
              </a:rPr>
              <a:t> </a:t>
            </a:r>
            <a:r>
              <a:rPr lang="en-US" dirty="0" err="1">
                <a:effectLst/>
                <a:latin typeface="Times New Roman" panose="02020603050405020304" pitchFamily="18" charset="0"/>
                <a:ea typeface="Calibri" panose="020F0502020204030204" pitchFamily="34" charset="0"/>
                <a:cs typeface="Mangal" panose="02040503050203030202" pitchFamily="18" charset="0"/>
              </a:rPr>
              <a:t>Nithin</a:t>
            </a:r>
            <a:endParaRPr lang="en-IN"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dirty="0">
                <a:effectLst/>
                <a:latin typeface="Times New Roman" panose="02020603050405020304" pitchFamily="18" charset="0"/>
                <a:ea typeface="Calibri" panose="020F0502020204030204" pitchFamily="34" charset="0"/>
                <a:cs typeface="Mangal" panose="02040503050203030202" pitchFamily="18" charset="0"/>
              </a:rPr>
              <a:t>2103A51263           </a:t>
            </a:r>
            <a:r>
              <a:rPr lang="en-US" dirty="0" err="1">
                <a:effectLst/>
                <a:latin typeface="Times New Roman" panose="02020603050405020304" pitchFamily="18" charset="0"/>
                <a:ea typeface="Calibri" panose="020F0502020204030204" pitchFamily="34" charset="0"/>
                <a:cs typeface="Mangal" panose="02040503050203030202" pitchFamily="18" charset="0"/>
              </a:rPr>
              <a:t>Galib</a:t>
            </a:r>
            <a:r>
              <a:rPr lang="en-US" dirty="0">
                <a:effectLst/>
                <a:latin typeface="Times New Roman" panose="02020603050405020304" pitchFamily="18" charset="0"/>
                <a:ea typeface="Calibri" panose="020F0502020204030204" pitchFamily="34" charset="0"/>
                <a:cs typeface="Mangal" panose="02040503050203030202" pitchFamily="18" charset="0"/>
              </a:rPr>
              <a:t> Sai Balaji</a:t>
            </a:r>
          </a:p>
          <a:p>
            <a:pPr>
              <a:lnSpc>
                <a:spcPct val="115000"/>
              </a:lnSpc>
              <a:spcAft>
                <a:spcPts val="1000"/>
              </a:spcAft>
            </a:pPr>
            <a:r>
              <a:rPr lang="en-US" dirty="0">
                <a:effectLst/>
                <a:latin typeface="Times New Roman" panose="02020603050405020304" pitchFamily="18" charset="0"/>
                <a:ea typeface="Calibri" panose="020F0502020204030204" pitchFamily="34" charset="0"/>
                <a:cs typeface="Mangal" panose="02040503050203030202" pitchFamily="18" charset="0"/>
              </a:rPr>
              <a:t>2103A51188		</a:t>
            </a:r>
            <a:r>
              <a:rPr lang="en-US" dirty="0" err="1">
                <a:effectLst/>
                <a:latin typeface="Times New Roman" panose="02020603050405020304" pitchFamily="18" charset="0"/>
                <a:ea typeface="Calibri" panose="020F0502020204030204" pitchFamily="34" charset="0"/>
                <a:cs typeface="Mangal" panose="02040503050203030202" pitchFamily="18" charset="0"/>
              </a:rPr>
              <a:t>Tirumalagiri</a:t>
            </a:r>
            <a:r>
              <a:rPr lang="en-US" dirty="0">
                <a:effectLst/>
                <a:latin typeface="Times New Roman" panose="02020603050405020304" pitchFamily="18" charset="0"/>
                <a:ea typeface="Calibri" panose="020F0502020204030204" pitchFamily="34" charset="0"/>
                <a:cs typeface="Mangal" panose="02040503050203030202" pitchFamily="18" charset="0"/>
              </a:rPr>
              <a:t> </a:t>
            </a:r>
            <a:r>
              <a:rPr lang="en-US" dirty="0" err="1">
                <a:effectLst/>
                <a:latin typeface="Times New Roman" panose="02020603050405020304" pitchFamily="18" charset="0"/>
                <a:ea typeface="Calibri" panose="020F0502020204030204" pitchFamily="34" charset="0"/>
                <a:cs typeface="Mangal" panose="02040503050203030202" pitchFamily="18" charset="0"/>
              </a:rPr>
              <a:t>Hrushikesh</a:t>
            </a:r>
            <a:endParaRPr lang="en-IN" dirty="0">
              <a:effectLst/>
              <a:latin typeface="Calibri" panose="020F0502020204030204" pitchFamily="34" charset="0"/>
              <a:ea typeface="Calibri" panose="020F0502020204030204" pitchFamily="34" charset="0"/>
              <a:cs typeface="Mangal" panose="02040503050203030202" pitchFamily="18" charset="0"/>
            </a:endParaRPr>
          </a:p>
        </p:txBody>
      </p:sp>
      <p:sp>
        <p:nvSpPr>
          <p:cNvPr id="4" name="TextBox 3">
            <a:extLst>
              <a:ext uri="{FF2B5EF4-FFF2-40B4-BE49-F238E27FC236}">
                <a16:creationId xmlns:a16="http://schemas.microsoft.com/office/drawing/2014/main" id="{3ABF83FA-38FD-C2F1-04C9-5A8C2C8C0565}"/>
              </a:ext>
            </a:extLst>
          </p:cNvPr>
          <p:cNvSpPr txBox="1"/>
          <p:nvPr/>
        </p:nvSpPr>
        <p:spPr>
          <a:xfrm>
            <a:off x="8024567" y="5240459"/>
            <a:ext cx="3485560" cy="646331"/>
          </a:xfrm>
          <a:prstGeom prst="rect">
            <a:avLst/>
          </a:prstGeom>
          <a:noFill/>
        </p:spPr>
        <p:txBody>
          <a:bodyPr wrap="square">
            <a:spAutoFit/>
          </a:bodyPr>
          <a:lstStyle/>
          <a:p>
            <a:pPr algn="ctr"/>
            <a:r>
              <a:rPr lang="en-IN" dirty="0"/>
              <a:t>Under the Guidance of </a:t>
            </a:r>
          </a:p>
          <a:p>
            <a:pPr algn="ctr"/>
            <a:r>
              <a:rPr lang="en-IN" dirty="0"/>
              <a:t>Mr. CH.SANDEEP</a:t>
            </a:r>
          </a:p>
        </p:txBody>
      </p:sp>
    </p:spTree>
    <p:extLst>
      <p:ext uri="{BB962C8B-B14F-4D97-AF65-F5344CB8AC3E}">
        <p14:creationId xmlns:p14="http://schemas.microsoft.com/office/powerpoint/2010/main" val="2241116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45DE20-6F48-5169-146E-8B5DC414BB98}"/>
              </a:ext>
            </a:extLst>
          </p:cNvPr>
          <p:cNvSpPr txBox="1"/>
          <p:nvPr/>
        </p:nvSpPr>
        <p:spPr>
          <a:xfrm>
            <a:off x="1906572" y="805148"/>
            <a:ext cx="6094428" cy="523220"/>
          </a:xfrm>
          <a:prstGeom prst="rect">
            <a:avLst/>
          </a:prstGeom>
          <a:noFill/>
        </p:spPr>
        <p:txBody>
          <a:bodyPr wrap="square">
            <a:spAutoFit/>
          </a:bodyPr>
          <a:lstStyle/>
          <a:p>
            <a:r>
              <a:rPr lang="en-IN" sz="2800" b="1" u="sng" dirty="0"/>
              <a:t>Abstract:</a:t>
            </a:r>
          </a:p>
        </p:txBody>
      </p:sp>
      <p:sp>
        <p:nvSpPr>
          <p:cNvPr id="5" name="TextBox 4">
            <a:extLst>
              <a:ext uri="{FF2B5EF4-FFF2-40B4-BE49-F238E27FC236}">
                <a16:creationId xmlns:a16="http://schemas.microsoft.com/office/drawing/2014/main" id="{42F208A1-5950-DB9B-66F7-5803E2B8A90E}"/>
              </a:ext>
            </a:extLst>
          </p:cNvPr>
          <p:cNvSpPr txBox="1"/>
          <p:nvPr/>
        </p:nvSpPr>
        <p:spPr>
          <a:xfrm>
            <a:off x="2632436" y="1742049"/>
            <a:ext cx="7755902" cy="3693319"/>
          </a:xfrm>
          <a:prstGeom prst="rect">
            <a:avLst/>
          </a:prstGeom>
          <a:noFill/>
        </p:spPr>
        <p:txBody>
          <a:bodyPr wrap="square">
            <a:spAutoFit/>
          </a:bodyPr>
          <a:lstStyle/>
          <a:p>
            <a:pPr marL="285750" indent="-285750" algn="just">
              <a:buFont typeface="Wingdings" panose="05000000000000000000" pitchFamily="2" charset="2"/>
              <a:buChar char="Ø"/>
            </a:pPr>
            <a:r>
              <a:rPr lang="en-IN" dirty="0"/>
              <a:t>The Smart Travel Planner is an AI-powered tool that makes travel planning easy and personalized. It suggests destinations and activities based on your preferences, mood, and budget, whether you want to relax, explore cultures, or seek adventure. </a:t>
            </a:r>
          </a:p>
          <a:p>
            <a:pPr algn="just"/>
            <a:endParaRPr lang="en-IN" dirty="0"/>
          </a:p>
          <a:p>
            <a:pPr marL="285750" indent="-285750" algn="just">
              <a:buFont typeface="Wingdings" panose="05000000000000000000" pitchFamily="2" charset="2"/>
              <a:buChar char="Ø"/>
            </a:pPr>
            <a:r>
              <a:rPr lang="en-IN" dirty="0"/>
              <a:t>It promotes eco-friendly travel and local experiences, like cooking classes and guided tours. The planner includes helpful features like real-time updates on flights and weather, language assistance, safety tips, and even a service to match travel companions. </a:t>
            </a:r>
          </a:p>
          <a:p>
            <a:pPr algn="just"/>
            <a:endParaRPr lang="en-IN" dirty="0"/>
          </a:p>
          <a:p>
            <a:pPr marL="285750" indent="-285750" algn="just">
              <a:buFont typeface="Wingdings" panose="05000000000000000000" pitchFamily="2" charset="2"/>
              <a:buChar char="Ø"/>
            </a:pPr>
            <a:r>
              <a:rPr lang="en-IN" dirty="0"/>
              <a:t>Extra tools like wellness plans, a travel journal, and fun challenges add to the experience. Built with advanced technology, it provides 24/7 support and constantly improves to make your trips smooth and enjoyable.</a:t>
            </a:r>
          </a:p>
        </p:txBody>
      </p:sp>
    </p:spTree>
    <p:extLst>
      <p:ext uri="{BB962C8B-B14F-4D97-AF65-F5344CB8AC3E}">
        <p14:creationId xmlns:p14="http://schemas.microsoft.com/office/powerpoint/2010/main" val="541527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C76A5D-C9C0-E71D-C9E7-6010DBBD7793}"/>
              </a:ext>
            </a:extLst>
          </p:cNvPr>
          <p:cNvSpPr txBox="1"/>
          <p:nvPr/>
        </p:nvSpPr>
        <p:spPr>
          <a:xfrm>
            <a:off x="1707071" y="669586"/>
            <a:ext cx="6094428" cy="523220"/>
          </a:xfrm>
          <a:prstGeom prst="rect">
            <a:avLst/>
          </a:prstGeom>
          <a:noFill/>
        </p:spPr>
        <p:txBody>
          <a:bodyPr wrap="square">
            <a:spAutoFit/>
          </a:bodyPr>
          <a:lstStyle/>
          <a:p>
            <a:r>
              <a:rPr lang="en-IN" sz="2800" b="1" u="sng" dirty="0"/>
              <a:t>Problem Identification:</a:t>
            </a:r>
          </a:p>
        </p:txBody>
      </p:sp>
      <p:sp>
        <p:nvSpPr>
          <p:cNvPr id="11" name="TextBox 10">
            <a:extLst>
              <a:ext uri="{FF2B5EF4-FFF2-40B4-BE49-F238E27FC236}">
                <a16:creationId xmlns:a16="http://schemas.microsoft.com/office/drawing/2014/main" id="{E3A30EFB-8F17-FACE-00C6-C29AACE41750}"/>
              </a:ext>
            </a:extLst>
          </p:cNvPr>
          <p:cNvSpPr txBox="1"/>
          <p:nvPr/>
        </p:nvSpPr>
        <p:spPr>
          <a:xfrm>
            <a:off x="2248137" y="1775173"/>
            <a:ext cx="8898007" cy="4247317"/>
          </a:xfrm>
          <a:prstGeom prst="rect">
            <a:avLst/>
          </a:prstGeom>
          <a:noFill/>
        </p:spPr>
        <p:txBody>
          <a:bodyPr wrap="square">
            <a:spAutoFit/>
          </a:bodyPr>
          <a:lstStyle/>
          <a:p>
            <a:pPr marL="285750" indent="-285750" algn="just">
              <a:buFont typeface="Wingdings" panose="05000000000000000000" pitchFamily="2" charset="2"/>
              <a:buChar char="Ø"/>
            </a:pPr>
            <a:r>
              <a:rPr lang="en-US" dirty="0"/>
              <a:t>Travelers face many problems when using current travel planning tools. Most of these tools do not give personalized suggestions that fit each travelers needs. Instead, they offer general advice that may not be useful. </a:t>
            </a:r>
          </a:p>
          <a:p>
            <a:pPr algn="just"/>
            <a:endParaRPr lang="en-US" dirty="0"/>
          </a:p>
          <a:p>
            <a:pPr marL="285750" indent="-285750" algn="just">
              <a:buFont typeface="Wingdings" panose="05000000000000000000" pitchFamily="2" charset="2"/>
              <a:buChar char="Ø"/>
            </a:pPr>
            <a:r>
              <a:rPr lang="en-US" dirty="0"/>
              <a:t>Information is scattered so travelers need to search different websites to gather details which can be slow and confusing. Often, this information is old or wrong, leading to bad decisions. Managing travel plans like activities, hotels, and flights can be hard, making it easy to miss important things. Its also tough to find the best prices, causing travelers to spend more than they should.</a:t>
            </a:r>
          </a:p>
          <a:p>
            <a:pPr algn="just"/>
            <a:r>
              <a:rPr lang="en-US" dirty="0"/>
              <a:t> </a:t>
            </a:r>
          </a:p>
          <a:p>
            <a:pPr marL="285750" indent="-285750" algn="just">
              <a:buFont typeface="Wingdings" panose="05000000000000000000" pitchFamily="2" charset="2"/>
              <a:buChar char="Ø"/>
            </a:pPr>
            <a:r>
              <a:rPr lang="en-US" dirty="0"/>
              <a:t>Many tools don’t provide real time updates, like flight delays or changes, leaving travelers unprepared. </a:t>
            </a:r>
          </a:p>
          <a:p>
            <a:pPr algn="just"/>
            <a:endParaRPr lang="en-US" dirty="0"/>
          </a:p>
          <a:p>
            <a:pPr marL="285750" indent="-285750" algn="just">
              <a:buFont typeface="Wingdings" panose="05000000000000000000" pitchFamily="2" charset="2"/>
              <a:buChar char="Ø"/>
            </a:pPr>
            <a:r>
              <a:rPr lang="en-US" dirty="0"/>
              <a:t>Privacy is another worry people are afraid to share their personal information because they don’t trust these platforms. Finally, some tools are not easy for everyone to use.</a:t>
            </a:r>
            <a:endParaRPr lang="en-IN" dirty="0"/>
          </a:p>
        </p:txBody>
      </p:sp>
    </p:spTree>
    <p:extLst>
      <p:ext uri="{BB962C8B-B14F-4D97-AF65-F5344CB8AC3E}">
        <p14:creationId xmlns:p14="http://schemas.microsoft.com/office/powerpoint/2010/main" val="416112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6F0A21-FDC3-B65C-84E7-C26A01E778AE}"/>
              </a:ext>
            </a:extLst>
          </p:cNvPr>
          <p:cNvSpPr txBox="1"/>
          <p:nvPr/>
        </p:nvSpPr>
        <p:spPr>
          <a:xfrm>
            <a:off x="1878292" y="805148"/>
            <a:ext cx="6094428" cy="523220"/>
          </a:xfrm>
          <a:prstGeom prst="rect">
            <a:avLst/>
          </a:prstGeom>
          <a:noFill/>
        </p:spPr>
        <p:txBody>
          <a:bodyPr wrap="square">
            <a:spAutoFit/>
          </a:bodyPr>
          <a:lstStyle/>
          <a:p>
            <a:r>
              <a:rPr lang="en-IN" sz="2800" b="1" u="sng" dirty="0"/>
              <a:t>Introduction:</a:t>
            </a:r>
          </a:p>
        </p:txBody>
      </p:sp>
      <p:sp>
        <p:nvSpPr>
          <p:cNvPr id="5" name="TextBox 4">
            <a:extLst>
              <a:ext uri="{FF2B5EF4-FFF2-40B4-BE49-F238E27FC236}">
                <a16:creationId xmlns:a16="http://schemas.microsoft.com/office/drawing/2014/main" id="{D217333D-A129-92CB-7327-94342F5B4924}"/>
              </a:ext>
            </a:extLst>
          </p:cNvPr>
          <p:cNvSpPr txBox="1"/>
          <p:nvPr/>
        </p:nvSpPr>
        <p:spPr>
          <a:xfrm>
            <a:off x="3169762" y="1880548"/>
            <a:ext cx="7105454" cy="3416320"/>
          </a:xfrm>
          <a:prstGeom prst="rect">
            <a:avLst/>
          </a:prstGeom>
          <a:noFill/>
        </p:spPr>
        <p:txBody>
          <a:bodyPr wrap="square">
            <a:spAutoFit/>
          </a:bodyPr>
          <a:lstStyle/>
          <a:p>
            <a:pPr marL="285750" indent="-285750" algn="just">
              <a:buFont typeface="Wingdings" panose="05000000000000000000" pitchFamily="2" charset="2"/>
              <a:buChar char="Ø"/>
            </a:pPr>
            <a:r>
              <a:rPr lang="en-IN" dirty="0"/>
              <a:t>A Smart Travel Planner makes planning trips easy and enjoyable by using technology to handle all the details in one place. It personalizes recommendations based on your preferences, like activities, or budget, and suggests destinations, accommodations, and activities just for you. </a:t>
            </a:r>
          </a:p>
          <a:p>
            <a:pPr algn="just"/>
            <a:endParaRPr lang="en-IN" dirty="0"/>
          </a:p>
          <a:p>
            <a:pPr marL="285750" indent="-285750" algn="just">
              <a:buFont typeface="Wingdings" panose="05000000000000000000" pitchFamily="2" charset="2"/>
              <a:buChar char="Ø"/>
            </a:pPr>
            <a:r>
              <a:rPr lang="en-IN" dirty="0"/>
              <a:t>By combining flights, hotels, transport, and tours on a single platform, it saves time and avoids scheduling problems. It also finds the best deals to save money and provides real-time updates to handle changes like flight delays. </a:t>
            </a:r>
          </a:p>
          <a:p>
            <a:pPr algn="just"/>
            <a:endParaRPr lang="en-IN" dirty="0"/>
          </a:p>
          <a:p>
            <a:pPr marL="285750" indent="-285750" algn="just">
              <a:buFont typeface="Wingdings" panose="05000000000000000000" pitchFamily="2" charset="2"/>
              <a:buChar char="Ø"/>
            </a:pPr>
            <a:r>
              <a:rPr lang="en-IN" dirty="0"/>
              <a:t>With clear schedules, maps, and local tips, the planner ensures a stress-free, fun, and well-organized travel experience for everyone.</a:t>
            </a:r>
          </a:p>
        </p:txBody>
      </p:sp>
    </p:spTree>
    <p:extLst>
      <p:ext uri="{BB962C8B-B14F-4D97-AF65-F5344CB8AC3E}">
        <p14:creationId xmlns:p14="http://schemas.microsoft.com/office/powerpoint/2010/main" val="83251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7D79A7-4803-304A-D89C-41770B109FF9}"/>
              </a:ext>
            </a:extLst>
          </p:cNvPr>
          <p:cNvSpPr txBox="1"/>
          <p:nvPr/>
        </p:nvSpPr>
        <p:spPr>
          <a:xfrm>
            <a:off x="1706251" y="503490"/>
            <a:ext cx="5993090" cy="523220"/>
          </a:xfrm>
          <a:prstGeom prst="rect">
            <a:avLst/>
          </a:prstGeom>
          <a:noFill/>
        </p:spPr>
        <p:txBody>
          <a:bodyPr wrap="square">
            <a:spAutoFit/>
          </a:bodyPr>
          <a:lstStyle/>
          <a:p>
            <a:r>
              <a:rPr lang="en-IN" sz="2800" b="1" u="sng"/>
              <a:t>Objective </a:t>
            </a:r>
            <a:r>
              <a:rPr lang="en-IN" sz="2800" b="1" u="sng" dirty="0"/>
              <a:t>of the Problem:</a:t>
            </a:r>
          </a:p>
        </p:txBody>
      </p:sp>
      <p:sp>
        <p:nvSpPr>
          <p:cNvPr id="5" name="TextBox 4">
            <a:extLst>
              <a:ext uri="{FF2B5EF4-FFF2-40B4-BE49-F238E27FC236}">
                <a16:creationId xmlns:a16="http://schemas.microsoft.com/office/drawing/2014/main" id="{7616CE4E-6676-466D-14DE-3B5A9D152314}"/>
              </a:ext>
            </a:extLst>
          </p:cNvPr>
          <p:cNvSpPr txBox="1"/>
          <p:nvPr/>
        </p:nvSpPr>
        <p:spPr>
          <a:xfrm>
            <a:off x="2028588" y="1121994"/>
            <a:ext cx="9363959" cy="5355312"/>
          </a:xfrm>
          <a:prstGeom prst="rect">
            <a:avLst/>
          </a:prstGeom>
          <a:noFill/>
        </p:spPr>
        <p:txBody>
          <a:bodyPr wrap="square">
            <a:spAutoFit/>
          </a:bodyPr>
          <a:lstStyle/>
          <a:p>
            <a:pPr marL="285750" indent="-285750" algn="just">
              <a:buFont typeface="Wingdings" panose="05000000000000000000" pitchFamily="2" charset="2"/>
              <a:buChar char="Ø"/>
            </a:pPr>
            <a:r>
              <a:rPr lang="en-US" b="1" dirty="0"/>
              <a:t>User Experience</a:t>
            </a:r>
            <a:r>
              <a:rPr lang="en-US" dirty="0"/>
              <a:t>: Traditional travel planning tools often provide generic suggestions and can be confusing, leading to a frustrating experience.</a:t>
            </a:r>
          </a:p>
          <a:p>
            <a:pPr algn="just"/>
            <a:endParaRPr lang="en-US" dirty="0"/>
          </a:p>
          <a:p>
            <a:pPr marL="285750" indent="-285750" algn="just">
              <a:buFont typeface="Wingdings" panose="05000000000000000000" pitchFamily="2" charset="2"/>
              <a:buChar char="Ø"/>
            </a:pPr>
            <a:r>
              <a:rPr lang="en-US" b="1" dirty="0"/>
              <a:t>Data Reliability</a:t>
            </a:r>
            <a:r>
              <a:rPr lang="en-US" dirty="0"/>
              <a:t>: Many existing systems rely on outdated or inaccurate data, resulting in poor recommendations and potential travel issues.</a:t>
            </a:r>
          </a:p>
          <a:p>
            <a:pPr algn="just"/>
            <a:endParaRPr lang="en-US" dirty="0"/>
          </a:p>
          <a:p>
            <a:pPr marL="285750" indent="-285750" algn="just">
              <a:buFont typeface="Wingdings" panose="05000000000000000000" pitchFamily="2" charset="2"/>
              <a:buChar char="Ø"/>
            </a:pPr>
            <a:r>
              <a:rPr lang="en-US" b="1" dirty="0"/>
              <a:t>Time Efficiency</a:t>
            </a:r>
            <a:r>
              <a:rPr lang="en-US" dirty="0"/>
              <a:t>: Users frequently have to navigate multiple websites and apps, making trip planning time-consuming and prone to mistakes.</a:t>
            </a:r>
          </a:p>
          <a:p>
            <a:pPr algn="just"/>
            <a:endParaRPr lang="en-US" dirty="0"/>
          </a:p>
          <a:p>
            <a:pPr marL="285750" indent="-285750" algn="just">
              <a:buFont typeface="Wingdings" panose="05000000000000000000" pitchFamily="2" charset="2"/>
              <a:buChar char="Ø"/>
            </a:pPr>
            <a:r>
              <a:rPr lang="en-US" b="1" dirty="0"/>
              <a:t>Budget Management</a:t>
            </a:r>
            <a:r>
              <a:rPr lang="en-US" dirty="0"/>
              <a:t>: Finding the best deals and staying within budget can be challenging, leading to overspending or missed opportunities.</a:t>
            </a:r>
          </a:p>
          <a:p>
            <a:pPr algn="just"/>
            <a:endParaRPr lang="en-US" dirty="0"/>
          </a:p>
          <a:p>
            <a:pPr marL="285750" indent="-285750" algn="just">
              <a:buFont typeface="Wingdings" panose="05000000000000000000" pitchFamily="2" charset="2"/>
              <a:buChar char="Ø"/>
            </a:pPr>
            <a:r>
              <a:rPr lang="en-US" b="1" dirty="0"/>
              <a:t>Information Organization</a:t>
            </a:r>
            <a:r>
              <a:rPr lang="en-US" dirty="0"/>
              <a:t>: Travelers often struggle to keep their itineraries organize which can lead to confusion and missed activities.</a:t>
            </a:r>
          </a:p>
          <a:p>
            <a:pPr algn="just"/>
            <a:endParaRPr lang="en-US" dirty="0"/>
          </a:p>
          <a:p>
            <a:pPr marL="285750" indent="-285750" algn="just">
              <a:buFont typeface="Wingdings" panose="05000000000000000000" pitchFamily="2" charset="2"/>
              <a:buChar char="Ø"/>
            </a:pPr>
            <a:r>
              <a:rPr lang="en-US" b="1" dirty="0"/>
              <a:t>Privacy and Security</a:t>
            </a:r>
            <a:r>
              <a:rPr lang="en-US" dirty="0"/>
              <a:t>: Users are concerned about the safety of their personal information, especially when using online platforms.</a:t>
            </a:r>
          </a:p>
          <a:p>
            <a:pPr algn="just"/>
            <a:endParaRPr lang="en-US" dirty="0"/>
          </a:p>
          <a:p>
            <a:pPr marL="285750" indent="-285750" algn="just">
              <a:buFont typeface="Wingdings" panose="05000000000000000000" pitchFamily="2" charset="2"/>
              <a:buChar char="Ø"/>
            </a:pPr>
            <a:r>
              <a:rPr lang="en-US" b="1" dirty="0"/>
              <a:t>Accessibility</a:t>
            </a:r>
            <a:r>
              <a:rPr lang="en-US" dirty="0"/>
              <a:t>: Not all travel tools are user friendly for diverse audiences.</a:t>
            </a:r>
          </a:p>
        </p:txBody>
      </p:sp>
    </p:spTree>
    <p:extLst>
      <p:ext uri="{BB962C8B-B14F-4D97-AF65-F5344CB8AC3E}">
        <p14:creationId xmlns:p14="http://schemas.microsoft.com/office/powerpoint/2010/main" val="2046324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849B231-1E23-F5A5-48D1-54580AE9E628}"/>
              </a:ext>
            </a:extLst>
          </p:cNvPr>
          <p:cNvSpPr txBox="1"/>
          <p:nvPr/>
        </p:nvSpPr>
        <p:spPr>
          <a:xfrm>
            <a:off x="1793451" y="531770"/>
            <a:ext cx="6094428" cy="523220"/>
          </a:xfrm>
          <a:prstGeom prst="rect">
            <a:avLst/>
          </a:prstGeom>
          <a:noFill/>
        </p:spPr>
        <p:txBody>
          <a:bodyPr wrap="square">
            <a:spAutoFit/>
          </a:bodyPr>
          <a:lstStyle/>
          <a:p>
            <a:r>
              <a:rPr lang="en-IN" sz="2800" b="1" u="sng" dirty="0"/>
              <a:t>Literature Review:</a:t>
            </a:r>
          </a:p>
        </p:txBody>
      </p:sp>
      <p:sp>
        <p:nvSpPr>
          <p:cNvPr id="7" name="TextBox 6">
            <a:extLst>
              <a:ext uri="{FF2B5EF4-FFF2-40B4-BE49-F238E27FC236}">
                <a16:creationId xmlns:a16="http://schemas.microsoft.com/office/drawing/2014/main" id="{CD056D48-9BE9-E923-3DBB-B20B9B9ABE20}"/>
              </a:ext>
            </a:extLst>
          </p:cNvPr>
          <p:cNvSpPr txBox="1"/>
          <p:nvPr/>
        </p:nvSpPr>
        <p:spPr>
          <a:xfrm>
            <a:off x="1699182" y="1102936"/>
            <a:ext cx="10027762" cy="5632311"/>
          </a:xfrm>
          <a:prstGeom prst="rect">
            <a:avLst/>
          </a:prstGeom>
          <a:noFill/>
        </p:spPr>
        <p:txBody>
          <a:bodyPr wrap="square">
            <a:spAutoFit/>
          </a:bodyPr>
          <a:lstStyle/>
          <a:p>
            <a:pPr algn="just"/>
            <a:r>
              <a:rPr lang="en-US" b="1" dirty="0"/>
              <a:t>Smart Tourist Guide System(</a:t>
            </a:r>
            <a:r>
              <a:rPr lang="en-IN" sz="1800" dirty="0" err="1">
                <a:effectLst/>
                <a:latin typeface="Calibri" panose="020F0502020204030204" pitchFamily="34" charset="0"/>
                <a:ea typeface="Calibri" panose="020F0502020204030204" pitchFamily="34" charset="0"/>
                <a:cs typeface="Mangal" panose="02040503050203030202" pitchFamily="18" charset="0"/>
              </a:rPr>
              <a:t>Chavan,Rahul</a:t>
            </a:r>
            <a:r>
              <a:rPr lang="en-IN" sz="1800" dirty="0">
                <a:effectLst/>
                <a:latin typeface="Calibri" panose="020F0502020204030204" pitchFamily="34" charset="0"/>
                <a:ea typeface="Calibri" panose="020F0502020204030204" pitchFamily="34" charset="0"/>
                <a:cs typeface="Mangal" panose="02040503050203030202" pitchFamily="18" charset="0"/>
              </a:rPr>
              <a:t> et.al.</a:t>
            </a:r>
            <a:r>
              <a:rPr lang="en-IN" sz="1800" b="1" dirty="0">
                <a:effectLst/>
                <a:latin typeface="Calibri" panose="020F0502020204030204" pitchFamily="34" charset="0"/>
                <a:ea typeface="Calibri" panose="020F0502020204030204" pitchFamily="34" charset="0"/>
                <a:cs typeface="Mangal" panose="02040503050203030202" pitchFamily="18" charset="0"/>
              </a:rPr>
              <a:t>)</a:t>
            </a:r>
            <a:endParaRPr lang="en-US" b="1" dirty="0"/>
          </a:p>
          <a:p>
            <a:pPr lvl="1" algn="just">
              <a:buFont typeface="+mj-lt"/>
              <a:buAutoNum type="arabicPeriod"/>
            </a:pPr>
            <a:r>
              <a:rPr lang="en-US" dirty="0"/>
              <a:t>  The Smart Tourist Guide System is a mobile app that provides detailed information about popular         	tourist spots in Delhi, making it a cost-effective alternative to professional guides.</a:t>
            </a:r>
          </a:p>
          <a:p>
            <a:pPr lvl="1" algn="just">
              <a:buFont typeface="+mj-lt"/>
              <a:buAutoNum type="arabicPeriod"/>
            </a:pPr>
            <a:r>
              <a:rPr lang="en-US" dirty="0"/>
              <a:t>  It uses GPS and Google Maps to help users navigate easily, find restaurants, and get real-time 	weather updates while allowing them to share their experiences.</a:t>
            </a:r>
          </a:p>
          <a:p>
            <a:pPr algn="just"/>
            <a:r>
              <a:rPr lang="en-US" b="1" dirty="0"/>
              <a:t>ChatGPT as a Travel Itinerary Planner(</a:t>
            </a:r>
            <a:r>
              <a:rPr lang="en-IN" sz="1800" dirty="0">
                <a:effectLst/>
                <a:ea typeface="Calibri" panose="020F0502020204030204" pitchFamily="34" charset="0"/>
                <a:cs typeface="Mangal" panose="02040503050203030202" pitchFamily="18" charset="0"/>
              </a:rPr>
              <a:t>Katerina Volchek1 and Stanislav Ivanov</a:t>
            </a:r>
            <a:r>
              <a:rPr lang="en-IN" sz="1800" b="1" dirty="0">
                <a:effectLst/>
                <a:ea typeface="Calibri" panose="020F0502020204030204" pitchFamily="34" charset="0"/>
                <a:cs typeface="Mangal" panose="02040503050203030202" pitchFamily="18" charset="0"/>
              </a:rPr>
              <a:t>)</a:t>
            </a:r>
            <a:endParaRPr lang="en-US" b="1" dirty="0"/>
          </a:p>
          <a:p>
            <a:pPr lvl="1" algn="just">
              <a:buFont typeface="+mj-lt"/>
              <a:buAutoNum type="arabicPeriod"/>
            </a:pPr>
            <a:r>
              <a:rPr lang="en-US" dirty="0"/>
              <a:t>  This study compares itineraries created by ChatGPT with those made by travel experts, 	highlighting that ChatGPT can draft initial travel plans effectively.</a:t>
            </a:r>
          </a:p>
          <a:p>
            <a:pPr lvl="1" algn="just">
              <a:buFont typeface="+mj-lt"/>
              <a:buAutoNum type="arabicPeriod"/>
            </a:pPr>
            <a:r>
              <a:rPr lang="en-US" dirty="0"/>
              <a:t>  While ChatGPT can generate feasible itineraries for popular places, it sometimes lacks details and 	may provide outdated information, requiring further refinement.</a:t>
            </a:r>
          </a:p>
          <a:p>
            <a:pPr algn="just"/>
            <a:r>
              <a:rPr lang="en-US" b="1" dirty="0"/>
              <a:t>Smart Travel Planner: A Mashup of Travel-Related Web Services(</a:t>
            </a:r>
            <a:r>
              <a:rPr lang="en-IN" sz="1800" dirty="0">
                <a:effectLst/>
                <a:latin typeface="+mj-lt"/>
                <a:ea typeface="Calibri" panose="020F0502020204030204" pitchFamily="34" charset="0"/>
                <a:cs typeface="Mangal" panose="02040503050203030202" pitchFamily="18" charset="0"/>
              </a:rPr>
              <a:t>Rabia Jafri</a:t>
            </a:r>
            <a:r>
              <a:rPr lang="en-IN" sz="1800" b="1" i="1" dirty="0">
                <a:effectLst/>
                <a:latin typeface="+mj-lt"/>
                <a:ea typeface="Calibri" panose="020F0502020204030204" pitchFamily="34" charset="0"/>
                <a:cs typeface="Mangal" panose="02040503050203030202" pitchFamily="18" charset="0"/>
              </a:rPr>
              <a:t>)</a:t>
            </a:r>
            <a:endParaRPr lang="en-US" b="1" dirty="0">
              <a:latin typeface="+mj-lt"/>
            </a:endParaRPr>
          </a:p>
          <a:p>
            <a:pPr lvl="1" algn="just">
              <a:buFont typeface="+mj-lt"/>
              <a:buAutoNum type="arabicPeriod"/>
            </a:pPr>
            <a:r>
              <a:rPr lang="en-US" dirty="0"/>
              <a:t>  The Smart Travel Planner is a web-based tool that combines multiple travel services into one 	platform, allowing users to plan trips easily and customize itineraries.</a:t>
            </a:r>
          </a:p>
          <a:p>
            <a:pPr lvl="1" algn="just">
              <a:buFont typeface="+mj-lt"/>
              <a:buAutoNum type="arabicPeriod"/>
            </a:pPr>
            <a:r>
              <a:rPr lang="en-US" dirty="0"/>
              <a:t>  It integrates various APIs, like Google Maps and Expedia, to provide real-time information and 	recommendations for hotels, routes, and sightseeing.</a:t>
            </a:r>
          </a:p>
          <a:p>
            <a:pPr algn="just"/>
            <a:r>
              <a:rPr lang="en-US" b="1" dirty="0"/>
              <a:t>AI-Driven Personalized Tourism Recommendation System(</a:t>
            </a:r>
            <a:r>
              <a:rPr lang="en-IN" sz="1800" i="1" dirty="0" err="1">
                <a:effectLst/>
                <a:latin typeface="Calibri" panose="020F0502020204030204" pitchFamily="34" charset="0"/>
                <a:ea typeface="Calibri" panose="020F0502020204030204" pitchFamily="34" charset="0"/>
                <a:cs typeface="Mangal" panose="02040503050203030202" pitchFamily="18" charset="0"/>
              </a:rPr>
              <a:t>Suhaidi</a:t>
            </a:r>
            <a:r>
              <a:rPr lang="en-IN" sz="1800" i="1" dirty="0">
                <a:effectLst/>
                <a:latin typeface="Calibri" panose="020F0502020204030204" pitchFamily="34" charset="0"/>
                <a:ea typeface="Calibri" panose="020F0502020204030204" pitchFamily="34" charset="0"/>
                <a:cs typeface="Mangal" panose="02040503050203030202" pitchFamily="18" charset="0"/>
              </a:rPr>
              <a:t> Hassan</a:t>
            </a:r>
            <a:r>
              <a:rPr lang="en-IN" sz="1800" b="1" i="1" dirty="0">
                <a:effectLst/>
                <a:latin typeface="Calibri" panose="020F0502020204030204" pitchFamily="34" charset="0"/>
                <a:ea typeface="Calibri" panose="020F0502020204030204" pitchFamily="34" charset="0"/>
                <a:cs typeface="Mangal" panose="02040503050203030202" pitchFamily="18" charset="0"/>
              </a:rPr>
              <a:t>)</a:t>
            </a:r>
            <a:endParaRPr lang="en-US" b="1" dirty="0"/>
          </a:p>
          <a:p>
            <a:pPr lvl="1" algn="just">
              <a:buFont typeface="+mj-lt"/>
              <a:buAutoNum type="arabicPeriod"/>
            </a:pPr>
            <a:r>
              <a:rPr lang="en-US" dirty="0"/>
              <a:t>  This system uses AI and GIS technologies to create personalized travel recommendations based on 	users' preferences expressed in natural language.</a:t>
            </a:r>
          </a:p>
          <a:p>
            <a:pPr lvl="1" algn="just">
              <a:buFont typeface="+mj-lt"/>
              <a:buAutoNum type="arabicPeriod"/>
            </a:pPr>
            <a:r>
              <a:rPr lang="en-US" dirty="0"/>
              <a:t>  It clusters nearby attractions and suggests travel routes, making planning simpler and more 	tailored to individual needs.</a:t>
            </a:r>
          </a:p>
        </p:txBody>
      </p:sp>
    </p:spTree>
    <p:extLst>
      <p:ext uri="{BB962C8B-B14F-4D97-AF65-F5344CB8AC3E}">
        <p14:creationId xmlns:p14="http://schemas.microsoft.com/office/powerpoint/2010/main" val="1736345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D25BD0-9CA0-3FF7-8712-B437EE47DEBD}"/>
              </a:ext>
            </a:extLst>
          </p:cNvPr>
          <p:cNvSpPr txBox="1"/>
          <p:nvPr/>
        </p:nvSpPr>
        <p:spPr>
          <a:xfrm>
            <a:off x="1762126" y="1465439"/>
            <a:ext cx="9238953" cy="4626908"/>
          </a:xfrm>
          <a:prstGeom prst="rect">
            <a:avLst/>
          </a:prstGeom>
          <a:noFill/>
        </p:spPr>
        <p:txBody>
          <a:bodyPr wrap="square">
            <a:spAutoFit/>
          </a:bodyPr>
          <a:lstStyle/>
          <a:p>
            <a:pPr algn="just">
              <a:spcAft>
                <a:spcPts val="400"/>
              </a:spcAft>
            </a:pPr>
            <a:r>
              <a:rPr lang="en-US" b="1" dirty="0">
                <a:latin typeface="+mj-lt"/>
              </a:rPr>
              <a:t>Smart Travel Guide Application(</a:t>
            </a:r>
            <a:r>
              <a:rPr lang="en-IN" sz="1800" dirty="0">
                <a:effectLst/>
                <a:latin typeface="+mj-lt"/>
                <a:ea typeface="Calibri" panose="020F0502020204030204" pitchFamily="34" charset="0"/>
                <a:cs typeface="Mangal" panose="02040503050203030202" pitchFamily="18" charset="0"/>
              </a:rPr>
              <a:t>Mohana Priya and  Vinoth Kiron </a:t>
            </a:r>
            <a:r>
              <a:rPr lang="en-IN" sz="1800" dirty="0" err="1">
                <a:effectLst/>
                <a:latin typeface="+mj-lt"/>
                <a:ea typeface="Calibri" panose="020F0502020204030204" pitchFamily="34" charset="0"/>
                <a:cs typeface="Mangal" panose="02040503050203030202" pitchFamily="18" charset="0"/>
              </a:rPr>
              <a:t>Sadhasivam</a:t>
            </a:r>
            <a:r>
              <a:rPr lang="en-IN" sz="1800" b="1" dirty="0">
                <a:effectLst/>
                <a:latin typeface="+mj-lt"/>
                <a:ea typeface="Calibri" panose="020F0502020204030204" pitchFamily="34" charset="0"/>
                <a:cs typeface="Mangal" panose="02040503050203030202" pitchFamily="18" charset="0"/>
              </a:rPr>
              <a:t>)</a:t>
            </a:r>
            <a:endParaRPr lang="en-US" b="1" dirty="0">
              <a:latin typeface="+mj-lt"/>
            </a:endParaRPr>
          </a:p>
          <a:p>
            <a:pPr lvl="1" algn="just">
              <a:buFont typeface="+mj-lt"/>
              <a:buAutoNum type="arabicPeriod"/>
            </a:pPr>
            <a:r>
              <a:rPr lang="en-US" dirty="0">
                <a:latin typeface="+mj-lt"/>
              </a:rPr>
              <a:t>  The Smart Travel Guide Website is a user-friendly platform built with PHP and 	other technologies to help travelers plan their trips effectively.</a:t>
            </a:r>
          </a:p>
          <a:p>
            <a:pPr lvl="1" algn="just">
              <a:buFont typeface="+mj-lt"/>
              <a:buAutoNum type="arabicPeriod"/>
            </a:pPr>
            <a:r>
              <a:rPr lang="en-US" dirty="0">
                <a:latin typeface="+mj-lt"/>
              </a:rPr>
              <a:t>  It stores user preferences and location information to provide personalized 	travel recommendations and itineraries.</a:t>
            </a:r>
          </a:p>
          <a:p>
            <a:pPr algn="just">
              <a:spcAft>
                <a:spcPts val="400"/>
              </a:spcAft>
            </a:pPr>
            <a:r>
              <a:rPr lang="en-US" b="1" dirty="0">
                <a:latin typeface="+mj-lt"/>
              </a:rPr>
              <a:t>Smart Travel Planner Using Hybrid Model(</a:t>
            </a:r>
            <a:r>
              <a:rPr lang="en-IN" sz="1800" i="1" dirty="0">
                <a:effectLst/>
                <a:latin typeface="+mj-lt"/>
                <a:ea typeface="Calibri" panose="020F0502020204030204" pitchFamily="34" charset="0"/>
                <a:cs typeface="Mangal" panose="02040503050203030202" pitchFamily="18" charset="0"/>
              </a:rPr>
              <a:t>Suresh Babu </a:t>
            </a:r>
            <a:r>
              <a:rPr lang="en-IN" sz="1800" i="1" dirty="0" err="1">
                <a:effectLst/>
                <a:latin typeface="+mj-lt"/>
                <a:ea typeface="Calibri" panose="020F0502020204030204" pitchFamily="34" charset="0"/>
                <a:cs typeface="Mangal" panose="02040503050203030202" pitchFamily="18" charset="0"/>
              </a:rPr>
              <a:t>Dasari</a:t>
            </a:r>
            <a:r>
              <a:rPr lang="en-IN" dirty="0" err="1">
                <a:latin typeface="+mj-lt"/>
                <a:ea typeface="Calibri" panose="020F0502020204030204" pitchFamily="34" charset="0"/>
                <a:cs typeface="Mangal" panose="02040503050203030202" pitchFamily="18" charset="0"/>
              </a:rPr>
              <a:t>,</a:t>
            </a:r>
            <a:r>
              <a:rPr lang="en-IN" sz="1800" i="1" dirty="0" err="1">
                <a:effectLst/>
                <a:latin typeface="+mj-lt"/>
                <a:ea typeface="Calibri" panose="020F0502020204030204" pitchFamily="34" charset="0"/>
                <a:cs typeface="Mangal" panose="02040503050203030202" pitchFamily="18" charset="0"/>
              </a:rPr>
              <a:t>V.Vandana</a:t>
            </a:r>
            <a:r>
              <a:rPr lang="en-IN" dirty="0">
                <a:latin typeface="+mj-lt"/>
                <a:ea typeface="Calibri" panose="020F0502020204030204" pitchFamily="34" charset="0"/>
                <a:cs typeface="Mangal" panose="02040503050203030202" pitchFamily="18" charset="0"/>
              </a:rPr>
              <a:t> and </a:t>
            </a:r>
            <a:r>
              <a:rPr lang="en-IN" sz="1800" i="1" dirty="0" err="1">
                <a:effectLst/>
                <a:latin typeface="+mj-lt"/>
                <a:ea typeface="Calibri" panose="020F0502020204030204" pitchFamily="34" charset="0"/>
                <a:cs typeface="Mangal" panose="02040503050203030202" pitchFamily="18" charset="0"/>
              </a:rPr>
              <a:t>A.Bhharathee</a:t>
            </a:r>
            <a:r>
              <a:rPr lang="en-IN" sz="1800" b="1" dirty="0">
                <a:effectLst/>
                <a:latin typeface="+mj-lt"/>
                <a:ea typeface="Calibri" panose="020F0502020204030204" pitchFamily="34" charset="0"/>
                <a:cs typeface="Mangal" panose="02040503050203030202" pitchFamily="18" charset="0"/>
              </a:rPr>
              <a:t>)</a:t>
            </a:r>
            <a:endParaRPr lang="en-US" b="1" dirty="0">
              <a:latin typeface="+mj-lt"/>
            </a:endParaRPr>
          </a:p>
          <a:p>
            <a:pPr lvl="1" algn="just">
              <a:buFont typeface="+mj-lt"/>
              <a:buAutoNum type="arabicPeriod"/>
            </a:pPr>
            <a:r>
              <a:rPr lang="en-US" dirty="0">
                <a:latin typeface="+mj-lt"/>
              </a:rPr>
              <a:t>  This project focuses on creating a personalized vacation planning tool that 	considers users’ unique preferences for routes and attractions.</a:t>
            </a:r>
          </a:p>
          <a:p>
            <a:pPr lvl="1" algn="just">
              <a:buFont typeface="+mj-lt"/>
              <a:buAutoNum type="arabicPeriod"/>
            </a:pPr>
            <a:r>
              <a:rPr lang="en-US" dirty="0">
                <a:latin typeface="+mj-lt"/>
              </a:rPr>
              <a:t>  It uses web scraping and machine learning algorithms to group nearby tourist 	spots and make customized suggestions for users.</a:t>
            </a:r>
          </a:p>
          <a:p>
            <a:pPr algn="just"/>
            <a:r>
              <a:rPr lang="en-US" b="1" dirty="0">
                <a:latin typeface="+mj-lt"/>
              </a:rPr>
              <a:t>Personal Smart Travel Planner Service(</a:t>
            </a:r>
            <a:r>
              <a:rPr lang="en-IN" sz="1800" i="1" dirty="0">
                <a:effectLst/>
                <a:latin typeface="+mj-lt"/>
                <a:ea typeface="Calibri" panose="020F0502020204030204" pitchFamily="34" charset="0"/>
                <a:cs typeface="Mangal" panose="02040503050203030202" pitchFamily="18" charset="0"/>
              </a:rPr>
              <a:t>Ki-</a:t>
            </a:r>
            <a:r>
              <a:rPr lang="en-IN" sz="1800" i="1" dirty="0" err="1">
                <a:effectLst/>
                <a:latin typeface="+mj-lt"/>
                <a:ea typeface="Calibri" panose="020F0502020204030204" pitchFamily="34" charset="0"/>
                <a:cs typeface="Mangal" panose="02040503050203030202" pitchFamily="18" charset="0"/>
              </a:rPr>
              <a:t>Beom</a:t>
            </a:r>
            <a:r>
              <a:rPr lang="en-IN" sz="1800" i="1" dirty="0">
                <a:effectLst/>
                <a:latin typeface="+mj-lt"/>
                <a:ea typeface="Calibri" panose="020F0502020204030204" pitchFamily="34" charset="0"/>
                <a:cs typeface="Mangal" panose="02040503050203030202" pitchFamily="18" charset="0"/>
              </a:rPr>
              <a:t> Kang</a:t>
            </a:r>
            <a:r>
              <a:rPr lang="en-IN" sz="1800" b="1" dirty="0">
                <a:effectLst/>
                <a:latin typeface="+mj-lt"/>
                <a:ea typeface="Calibri" panose="020F0502020204030204" pitchFamily="34" charset="0"/>
                <a:cs typeface="Mangal" panose="02040503050203030202" pitchFamily="18" charset="0"/>
              </a:rPr>
              <a:t>)</a:t>
            </a:r>
            <a:endParaRPr lang="en-US" b="1" dirty="0">
              <a:latin typeface="+mj-lt"/>
            </a:endParaRPr>
          </a:p>
          <a:p>
            <a:pPr lvl="1" algn="just">
              <a:buFont typeface="+mj-lt"/>
              <a:buAutoNum type="arabicPeriod"/>
            </a:pPr>
            <a:r>
              <a:rPr lang="en-US" dirty="0">
                <a:latin typeface="+mj-lt"/>
              </a:rPr>
              <a:t>  This paper proposes a smart tourism app that helps users create personalized 	travel itineraries and offers context-aware tour guidance.</a:t>
            </a:r>
          </a:p>
          <a:p>
            <a:pPr lvl="1" algn="just">
              <a:buFont typeface="+mj-lt"/>
              <a:buAutoNum type="arabicPeriod"/>
            </a:pPr>
            <a:r>
              <a:rPr lang="en-US" dirty="0">
                <a:latin typeface="+mj-lt"/>
              </a:rPr>
              <a:t>  The system includes a chatbot feature, allowing users to easily access tourist 	information and modify their travel plans while on the go.</a:t>
            </a:r>
          </a:p>
          <a:p>
            <a:pPr lvl="1" algn="just"/>
            <a:endParaRPr lang="en-US" dirty="0">
              <a:latin typeface="+mj-lt"/>
            </a:endParaRPr>
          </a:p>
        </p:txBody>
      </p:sp>
      <p:sp>
        <p:nvSpPr>
          <p:cNvPr id="4" name="TextBox 3">
            <a:extLst>
              <a:ext uri="{FF2B5EF4-FFF2-40B4-BE49-F238E27FC236}">
                <a16:creationId xmlns:a16="http://schemas.microsoft.com/office/drawing/2014/main" id="{2D64D9BC-66A0-99F0-E0CC-8F9C0520E19C}"/>
              </a:ext>
            </a:extLst>
          </p:cNvPr>
          <p:cNvSpPr txBox="1"/>
          <p:nvPr/>
        </p:nvSpPr>
        <p:spPr>
          <a:xfrm>
            <a:off x="1727462" y="786293"/>
            <a:ext cx="6094428" cy="523220"/>
          </a:xfrm>
          <a:prstGeom prst="rect">
            <a:avLst/>
          </a:prstGeom>
          <a:noFill/>
        </p:spPr>
        <p:txBody>
          <a:bodyPr wrap="square">
            <a:spAutoFit/>
          </a:bodyPr>
          <a:lstStyle/>
          <a:p>
            <a:r>
              <a:rPr lang="en-IN" sz="2800" b="1" u="sng" dirty="0"/>
              <a:t>Literature Review:</a:t>
            </a:r>
          </a:p>
        </p:txBody>
      </p:sp>
    </p:spTree>
    <p:extLst>
      <p:ext uri="{BB962C8B-B14F-4D97-AF65-F5344CB8AC3E}">
        <p14:creationId xmlns:p14="http://schemas.microsoft.com/office/powerpoint/2010/main" val="1966736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A2D26C-FE5F-8B1E-67B4-20C58D5EE898}"/>
              </a:ext>
            </a:extLst>
          </p:cNvPr>
          <p:cNvSpPr txBox="1"/>
          <p:nvPr/>
        </p:nvSpPr>
        <p:spPr>
          <a:xfrm>
            <a:off x="1604913" y="1293904"/>
            <a:ext cx="10197446" cy="5909310"/>
          </a:xfrm>
          <a:prstGeom prst="rect">
            <a:avLst/>
          </a:prstGeom>
          <a:noFill/>
        </p:spPr>
        <p:txBody>
          <a:bodyPr wrap="square">
            <a:spAutoFit/>
          </a:bodyPr>
          <a:lstStyle/>
          <a:p>
            <a:pPr algn="just"/>
            <a:r>
              <a:rPr lang="en-US" b="1" dirty="0"/>
              <a:t>Smart Travel Planner for Urban Sustainability </a:t>
            </a:r>
            <a:r>
              <a:rPr lang="en-US" dirty="0"/>
              <a:t>(Jacek </a:t>
            </a:r>
            <a:r>
              <a:rPr lang="en-US" dirty="0" err="1"/>
              <a:t>Malasek</a:t>
            </a:r>
            <a:r>
              <a:rPr lang="en-US" dirty="0"/>
              <a:t>)</a:t>
            </a:r>
          </a:p>
          <a:p>
            <a:pPr lvl="1" algn="just">
              <a:buFont typeface="+mj-lt"/>
              <a:buAutoNum type="arabicPeriod"/>
            </a:pPr>
            <a:r>
              <a:rPr lang="en-US" b="1" dirty="0"/>
              <a:t>Making Travel Greener</a:t>
            </a:r>
            <a:r>
              <a:rPr lang="en-US" dirty="0"/>
              <a:t>: The Smart Travel Planner helps people find eco-friendly ways to travel, like walking, biking, or using public transport, using live traffic and pollution data.</a:t>
            </a:r>
          </a:p>
          <a:p>
            <a:pPr lvl="1" algn="just">
              <a:buFont typeface="+mj-lt"/>
              <a:buAutoNum type="arabicPeriod"/>
            </a:pPr>
            <a:r>
              <a:rPr lang="en-US" b="1" dirty="0"/>
              <a:t>Rewards and Teamwork</a:t>
            </a:r>
            <a:r>
              <a:rPr lang="en-US" dirty="0"/>
              <a:t>: People earn rewards for choosing green options, and the system works with governments and transport companies to keep improving.</a:t>
            </a:r>
          </a:p>
          <a:p>
            <a:pPr algn="just"/>
            <a:r>
              <a:rPr lang="en-US" b="1" dirty="0"/>
              <a:t>Personalized Travel Products for Smart Tour Guidance (J.W. </a:t>
            </a:r>
            <a:r>
              <a:rPr lang="en-US" b="1" dirty="0" err="1"/>
              <a:t>Jwa</a:t>
            </a:r>
            <a:r>
              <a:rPr lang="en-US" b="1" dirty="0"/>
              <a:t>)</a:t>
            </a:r>
          </a:p>
          <a:p>
            <a:pPr lvl="1" algn="just">
              <a:buFont typeface="+mj-lt"/>
              <a:buAutoNum type="arabicPeriod"/>
            </a:pPr>
            <a:r>
              <a:rPr lang="en-US" b="1" dirty="0"/>
              <a:t>Personalized Plans</a:t>
            </a:r>
            <a:r>
              <a:rPr lang="en-US" dirty="0"/>
              <a:t>: The planner creates customized travel routes using smart technologies like big data and cloud systems.</a:t>
            </a:r>
          </a:p>
          <a:p>
            <a:pPr lvl="1" algn="just">
              <a:buFont typeface="+mj-lt"/>
              <a:buAutoNum type="arabicPeriod"/>
            </a:pPr>
            <a:r>
              <a:rPr lang="en-US" b="1" dirty="0"/>
              <a:t>Tourism Features</a:t>
            </a:r>
            <a:r>
              <a:rPr lang="en-US" dirty="0"/>
              <a:t>: It helps tourists with route suggestions, updates, and sharing options like bike rentals to make trips fun and eco-friendly.</a:t>
            </a:r>
          </a:p>
          <a:p>
            <a:pPr algn="just"/>
            <a:r>
              <a:rPr lang="en-US" b="1" dirty="0"/>
              <a:t>Integrating Tourist Packages and Attractions (Hsueh-Chan Lu et al.)</a:t>
            </a:r>
          </a:p>
          <a:p>
            <a:pPr lvl="1" algn="just">
              <a:buFont typeface="+mj-lt"/>
              <a:buAutoNum type="arabicPeriod"/>
            </a:pPr>
            <a:r>
              <a:rPr lang="en-US" b="1" dirty="0"/>
              <a:t>Eco-Friendly Travel</a:t>
            </a:r>
            <a:r>
              <a:rPr lang="en-US" dirty="0"/>
              <a:t>: The system suggests routes that reduce car use and encourages green travel with rewards.</a:t>
            </a:r>
          </a:p>
          <a:p>
            <a:pPr lvl="1" algn="just">
              <a:buFont typeface="+mj-lt"/>
              <a:buAutoNum type="arabicPeriod"/>
            </a:pPr>
            <a:r>
              <a:rPr lang="en-US" b="1" dirty="0"/>
              <a:t>Better Trips for Tourists</a:t>
            </a:r>
            <a:r>
              <a:rPr lang="en-US" dirty="0"/>
              <a:t>: Travelers get detailed plans with maps, guides, and updates for an easy and enjoyable experience.</a:t>
            </a:r>
          </a:p>
          <a:p>
            <a:pPr algn="just"/>
            <a:r>
              <a:rPr lang="en-US" b="1" dirty="0"/>
              <a:t>Active Transport Journey Planner Methodology (</a:t>
            </a:r>
            <a:r>
              <a:rPr lang="en-US" b="1" dirty="0" err="1"/>
              <a:t>Wenqi</a:t>
            </a:r>
            <a:r>
              <a:rPr lang="en-US" b="1" dirty="0"/>
              <a:t> Hu et al.)</a:t>
            </a:r>
          </a:p>
          <a:p>
            <a:pPr lvl="1" algn="just">
              <a:buFont typeface="+mj-lt"/>
              <a:buAutoNum type="arabicPeriod"/>
            </a:pPr>
            <a:r>
              <a:rPr lang="en-US" b="1" dirty="0"/>
              <a:t>Healthier Travel Options</a:t>
            </a:r>
            <a:r>
              <a:rPr lang="en-US" dirty="0"/>
              <a:t>: The planner recommends walking or biking by balancing time, cost, and environmental impact.</a:t>
            </a:r>
          </a:p>
          <a:p>
            <a:pPr lvl="1" algn="just">
              <a:buFont typeface="+mj-lt"/>
              <a:buAutoNum type="arabicPeriod"/>
            </a:pPr>
            <a:r>
              <a:rPr lang="en-US" b="1" dirty="0"/>
              <a:t>Simple Ranking</a:t>
            </a:r>
            <a:r>
              <a:rPr lang="en-US" dirty="0"/>
              <a:t>: People can input their needs, and the system ranks the best travel choices for them.</a:t>
            </a:r>
          </a:p>
          <a:p>
            <a:pPr lvl="2">
              <a:buFont typeface="+mj-lt"/>
              <a:buAutoNum type="arabicPeriod"/>
            </a:pPr>
            <a:endParaRPr lang="en-US" dirty="0"/>
          </a:p>
          <a:p>
            <a:pPr lvl="1"/>
            <a:endParaRPr lang="en-US" dirty="0"/>
          </a:p>
        </p:txBody>
      </p:sp>
      <p:sp>
        <p:nvSpPr>
          <p:cNvPr id="5" name="TextBox 4">
            <a:extLst>
              <a:ext uri="{FF2B5EF4-FFF2-40B4-BE49-F238E27FC236}">
                <a16:creationId xmlns:a16="http://schemas.microsoft.com/office/drawing/2014/main" id="{F95D8E19-106B-DC2C-1ABC-066B4AE7BF7B}"/>
              </a:ext>
            </a:extLst>
          </p:cNvPr>
          <p:cNvSpPr txBox="1"/>
          <p:nvPr/>
        </p:nvSpPr>
        <p:spPr>
          <a:xfrm>
            <a:off x="1746316" y="710880"/>
            <a:ext cx="6094428" cy="523220"/>
          </a:xfrm>
          <a:prstGeom prst="rect">
            <a:avLst/>
          </a:prstGeom>
          <a:noFill/>
        </p:spPr>
        <p:txBody>
          <a:bodyPr wrap="square">
            <a:spAutoFit/>
          </a:bodyPr>
          <a:lstStyle/>
          <a:p>
            <a:r>
              <a:rPr lang="en-IN" sz="2800" b="1" u="sng" dirty="0"/>
              <a:t>Literature Review:</a:t>
            </a:r>
          </a:p>
        </p:txBody>
      </p:sp>
    </p:spTree>
    <p:extLst>
      <p:ext uri="{BB962C8B-B14F-4D97-AF65-F5344CB8AC3E}">
        <p14:creationId xmlns:p14="http://schemas.microsoft.com/office/powerpoint/2010/main" val="403800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2A2B71-DB5D-9E31-5A08-7F31F5003F31}"/>
              </a:ext>
            </a:extLst>
          </p:cNvPr>
          <p:cNvSpPr txBox="1"/>
          <p:nvPr/>
        </p:nvSpPr>
        <p:spPr>
          <a:xfrm>
            <a:off x="1718035" y="616612"/>
            <a:ext cx="6094428" cy="523220"/>
          </a:xfrm>
          <a:prstGeom prst="rect">
            <a:avLst/>
          </a:prstGeom>
          <a:noFill/>
        </p:spPr>
        <p:txBody>
          <a:bodyPr wrap="square">
            <a:spAutoFit/>
          </a:bodyPr>
          <a:lstStyle/>
          <a:p>
            <a:r>
              <a:rPr lang="en-IN" sz="2800" b="1" u="sng" dirty="0"/>
              <a:t>Literature Review:</a:t>
            </a:r>
          </a:p>
        </p:txBody>
      </p:sp>
      <p:sp>
        <p:nvSpPr>
          <p:cNvPr id="5" name="TextBox 4">
            <a:extLst>
              <a:ext uri="{FF2B5EF4-FFF2-40B4-BE49-F238E27FC236}">
                <a16:creationId xmlns:a16="http://schemas.microsoft.com/office/drawing/2014/main" id="{AE3AF405-5227-40C6-3EED-42F64C276955}"/>
              </a:ext>
            </a:extLst>
          </p:cNvPr>
          <p:cNvSpPr txBox="1"/>
          <p:nvPr/>
        </p:nvSpPr>
        <p:spPr>
          <a:xfrm>
            <a:off x="1640264" y="1143076"/>
            <a:ext cx="10133815" cy="5909310"/>
          </a:xfrm>
          <a:prstGeom prst="rect">
            <a:avLst/>
          </a:prstGeom>
          <a:noFill/>
        </p:spPr>
        <p:txBody>
          <a:bodyPr wrap="square">
            <a:spAutoFit/>
          </a:bodyPr>
          <a:lstStyle/>
          <a:p>
            <a:pPr algn="just"/>
            <a:r>
              <a:rPr lang="en-US" b="1" dirty="0"/>
              <a:t>Navigating Overtourism (Majid Mohammad </a:t>
            </a:r>
            <a:r>
              <a:rPr lang="en-US" b="1" dirty="0" err="1"/>
              <a:t>Shafiee</a:t>
            </a:r>
            <a:r>
              <a:rPr lang="en-US" b="1" dirty="0"/>
              <a:t>)</a:t>
            </a:r>
          </a:p>
          <a:p>
            <a:pPr lvl="1" algn="just">
              <a:buFont typeface="+mj-lt"/>
              <a:buAutoNum type="arabicPeriod"/>
            </a:pPr>
            <a:r>
              <a:rPr lang="en-US" b="1" dirty="0"/>
              <a:t>Crowd Problems</a:t>
            </a:r>
            <a:r>
              <a:rPr lang="en-US" dirty="0"/>
              <a:t>: Popular places get too crowded, causing pollution and ruining the experience for both locals and visitors.</a:t>
            </a:r>
          </a:p>
          <a:p>
            <a:pPr lvl="1" algn="just">
              <a:buFont typeface="+mj-lt"/>
              <a:buAutoNum type="arabicPeriod"/>
            </a:pPr>
            <a:r>
              <a:rPr lang="en-US" b="1" dirty="0"/>
              <a:t>Smart Fixes</a:t>
            </a:r>
            <a:r>
              <a:rPr lang="en-US" dirty="0"/>
              <a:t>: Apps and sensors guide tourists to less crowded spots and predict busy times to protect the environment and improve visits.</a:t>
            </a:r>
          </a:p>
          <a:p>
            <a:pPr algn="just"/>
            <a:r>
              <a:rPr lang="en-US" b="1" dirty="0"/>
              <a:t>Smart Travel Survey Experiment (Barry Schouten et al.)</a:t>
            </a:r>
          </a:p>
          <a:p>
            <a:pPr lvl="1" algn="just">
              <a:buFont typeface="+mj-lt"/>
              <a:buAutoNum type="arabicPeriod"/>
            </a:pPr>
            <a:r>
              <a:rPr lang="en-US" b="1" dirty="0"/>
              <a:t>Tracking Travel Habits</a:t>
            </a:r>
            <a:r>
              <a:rPr lang="en-US" dirty="0"/>
              <a:t>: Apps are better at collecting travel data but face challenges like tech issues and privacy worries.</a:t>
            </a:r>
          </a:p>
          <a:p>
            <a:pPr lvl="1" algn="just">
              <a:buFont typeface="+mj-lt"/>
              <a:buAutoNum type="arabicPeriod"/>
            </a:pPr>
            <a:r>
              <a:rPr lang="en-US" b="1" dirty="0"/>
              <a:t>Best of Both Worlds</a:t>
            </a:r>
            <a:r>
              <a:rPr lang="en-US" dirty="0"/>
              <a:t>: Mixing apps and surveys improves data quality and participation if apps are made easier to use.</a:t>
            </a:r>
          </a:p>
          <a:p>
            <a:pPr algn="just"/>
            <a:r>
              <a:rPr lang="en-US" b="1" dirty="0"/>
              <a:t>Travel Smart, Spend Smart (</a:t>
            </a:r>
            <a:r>
              <a:rPr lang="en-US" b="1" dirty="0" err="1"/>
              <a:t>Ainur</a:t>
            </a:r>
            <a:r>
              <a:rPr lang="en-US" b="1" dirty="0"/>
              <a:t> </a:t>
            </a:r>
            <a:r>
              <a:rPr lang="en-US" b="1" dirty="0" err="1"/>
              <a:t>Shafiqah</a:t>
            </a:r>
            <a:r>
              <a:rPr lang="en-US" b="1" dirty="0"/>
              <a:t> Binti </a:t>
            </a:r>
            <a:r>
              <a:rPr lang="en-US" b="1" dirty="0" err="1"/>
              <a:t>Shahrul</a:t>
            </a:r>
            <a:r>
              <a:rPr lang="en-US" b="1" dirty="0"/>
              <a:t> Nizam)</a:t>
            </a:r>
          </a:p>
          <a:p>
            <a:pPr lvl="1" algn="just">
              <a:buFont typeface="+mj-lt"/>
              <a:buAutoNum type="arabicPeriod"/>
            </a:pPr>
            <a:r>
              <a:rPr lang="en-US" b="1" dirty="0"/>
              <a:t>Budgeting for Travel</a:t>
            </a:r>
            <a:r>
              <a:rPr lang="en-US" dirty="0"/>
              <a:t>: Plan for trip expenses and save money ahead of time to avoid financial problems.</a:t>
            </a:r>
          </a:p>
          <a:p>
            <a:pPr lvl="1" algn="just">
              <a:buFont typeface="+mj-lt"/>
              <a:buAutoNum type="arabicPeriod"/>
            </a:pPr>
            <a:r>
              <a:rPr lang="en-US" b="1" dirty="0"/>
              <a:t>Smart Money Tips</a:t>
            </a:r>
            <a:r>
              <a:rPr lang="en-US" dirty="0"/>
              <a:t>: Track spending, look for discounts, and use credit cards wisely to stay within your budget.</a:t>
            </a:r>
          </a:p>
          <a:p>
            <a:pPr algn="just"/>
            <a:r>
              <a:rPr lang="en-US" b="1" dirty="0"/>
              <a:t>Smart Travel Service in Intercity Travel (Zhi Dong et al.)</a:t>
            </a:r>
          </a:p>
          <a:p>
            <a:pPr lvl="1" algn="just">
              <a:buFont typeface="+mj-lt"/>
              <a:buAutoNum type="arabicPeriod"/>
            </a:pPr>
            <a:r>
              <a:rPr lang="en-US" b="1" dirty="0"/>
              <a:t>Happier Trips</a:t>
            </a:r>
            <a:r>
              <a:rPr lang="en-US" dirty="0"/>
              <a:t>: Smart tools like apps and GPS make travel easier, safer, and better for the environment, especially for frequent users.</a:t>
            </a:r>
          </a:p>
          <a:p>
            <a:pPr lvl="1" algn="just">
              <a:buFont typeface="+mj-lt"/>
              <a:buAutoNum type="arabicPeriod"/>
            </a:pPr>
            <a:r>
              <a:rPr lang="en-US" b="1" dirty="0"/>
              <a:t>Making Tools Better</a:t>
            </a:r>
            <a:r>
              <a:rPr lang="en-US" dirty="0"/>
              <a:t>: Add more features for regular users and teach others how to use them to encourage everyone to try them out.</a:t>
            </a:r>
          </a:p>
          <a:p>
            <a:pPr lvl="1">
              <a:buFont typeface="+mj-lt"/>
              <a:buAutoNum type="arabicPeriod"/>
            </a:pPr>
            <a:endParaRPr lang="en-US" dirty="0"/>
          </a:p>
        </p:txBody>
      </p:sp>
    </p:spTree>
    <p:extLst>
      <p:ext uri="{BB962C8B-B14F-4D97-AF65-F5344CB8AC3E}">
        <p14:creationId xmlns:p14="http://schemas.microsoft.com/office/powerpoint/2010/main" val="3968114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55E96E-175E-A32C-0C53-96F2F1D64239}"/>
              </a:ext>
            </a:extLst>
          </p:cNvPr>
          <p:cNvSpPr txBox="1"/>
          <p:nvPr/>
        </p:nvSpPr>
        <p:spPr>
          <a:xfrm>
            <a:off x="1784023" y="739160"/>
            <a:ext cx="6094428" cy="523220"/>
          </a:xfrm>
          <a:prstGeom prst="rect">
            <a:avLst/>
          </a:prstGeom>
          <a:noFill/>
        </p:spPr>
        <p:txBody>
          <a:bodyPr wrap="square">
            <a:spAutoFit/>
          </a:bodyPr>
          <a:lstStyle/>
          <a:p>
            <a:r>
              <a:rPr lang="en-IN" sz="2800" b="1" u="sng" dirty="0"/>
              <a:t>Proposed Plan:</a:t>
            </a:r>
          </a:p>
        </p:txBody>
      </p:sp>
      <p:sp>
        <p:nvSpPr>
          <p:cNvPr id="9" name="TextBox 8">
            <a:extLst>
              <a:ext uri="{FF2B5EF4-FFF2-40B4-BE49-F238E27FC236}">
                <a16:creationId xmlns:a16="http://schemas.microsoft.com/office/drawing/2014/main" id="{5B02D333-7EA4-D8D1-C26A-F9FF510FF0C6}"/>
              </a:ext>
            </a:extLst>
          </p:cNvPr>
          <p:cNvSpPr txBox="1"/>
          <p:nvPr/>
        </p:nvSpPr>
        <p:spPr>
          <a:xfrm>
            <a:off x="2481335" y="1688198"/>
            <a:ext cx="6969815" cy="3416320"/>
          </a:xfrm>
          <a:prstGeom prst="rect">
            <a:avLst/>
          </a:prstGeom>
          <a:noFill/>
        </p:spPr>
        <p:txBody>
          <a:bodyPr wrap="square">
            <a:spAutoFit/>
          </a:bodyPr>
          <a:lstStyle/>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dirty="0"/>
              <a:t>The Smart Travel Planner makes planning trips much easier with several great features. First, it gives you personalized suggestions based on what you like, helping you decide where to go and what to do. You can book flights, hotels, car rentals, and activities all in one place, which saves you time.</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lang="en-US" dirty="0"/>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dirty="0"/>
              <a:t>It also finds the best deals so you can stick to your budget without losing quality. You’ll get real-time updates about changes, like flight delays, and it will suggest other options. The planner organizes your trip with schedules and maps, making it easy to follow. It also shares local tips for places to eat and things to do. Plus, your personal information is kept safe, and it supports everyone.</a:t>
            </a:r>
            <a:endParaRPr lang="en-IN" dirty="0"/>
          </a:p>
        </p:txBody>
      </p:sp>
    </p:spTree>
    <p:extLst>
      <p:ext uri="{BB962C8B-B14F-4D97-AF65-F5344CB8AC3E}">
        <p14:creationId xmlns:p14="http://schemas.microsoft.com/office/powerpoint/2010/main" val="926360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F4A80F9-992C-7272-638A-06B8843F38E2}"/>
              </a:ext>
            </a:extLst>
          </p:cNvPr>
          <p:cNvSpPr txBox="1"/>
          <p:nvPr/>
        </p:nvSpPr>
        <p:spPr>
          <a:xfrm>
            <a:off x="1593592" y="291288"/>
            <a:ext cx="6094428" cy="523220"/>
          </a:xfrm>
          <a:prstGeom prst="rect">
            <a:avLst/>
          </a:prstGeom>
        </p:spPr>
        <p:txBody>
          <a:bodyPr wrap="square">
            <a:spAutoFit/>
          </a:bodyPr>
          <a:lstStyle/>
          <a:p>
            <a:r>
              <a:rPr lang="en-IN" sz="2800" b="1" u="sng" dirty="0"/>
              <a:t>Advantages :</a:t>
            </a:r>
          </a:p>
        </p:txBody>
      </p:sp>
      <p:sp>
        <p:nvSpPr>
          <p:cNvPr id="4" name="TextBox 3">
            <a:extLst>
              <a:ext uri="{FF2B5EF4-FFF2-40B4-BE49-F238E27FC236}">
                <a16:creationId xmlns:a16="http://schemas.microsoft.com/office/drawing/2014/main" id="{482E1397-CA0D-E96F-534C-3FC8A97939A8}"/>
              </a:ext>
            </a:extLst>
          </p:cNvPr>
          <p:cNvSpPr txBox="1"/>
          <p:nvPr/>
        </p:nvSpPr>
        <p:spPr>
          <a:xfrm>
            <a:off x="2028824" y="948690"/>
            <a:ext cx="9808509" cy="5909310"/>
          </a:xfrm>
          <a:prstGeom prst="rect">
            <a:avLst/>
          </a:prstGeom>
          <a:noFill/>
        </p:spPr>
        <p:txBody>
          <a:bodyPr wrap="square">
            <a:spAutoFit/>
          </a:bodyPr>
          <a:lstStyle/>
          <a:p>
            <a:pPr algn="just"/>
            <a:r>
              <a:rPr lang="en-US" dirty="0"/>
              <a:t>1. Personalized Suggestions: It gives you travel recommendations based on your likes and preferences, such as where to go, what to do, and where to stay. </a:t>
            </a:r>
          </a:p>
          <a:p>
            <a:pPr algn="just"/>
            <a:endParaRPr lang="en-US" dirty="0"/>
          </a:p>
          <a:p>
            <a:pPr algn="just"/>
            <a:r>
              <a:rPr lang="en-US" dirty="0"/>
              <a:t>2. All-in-One Tool: You can book flights, hotels, car rentals, and activities all in one place, saving you time and effort. </a:t>
            </a:r>
          </a:p>
          <a:p>
            <a:pPr algn="just"/>
            <a:endParaRPr lang="en-US" dirty="0"/>
          </a:p>
          <a:p>
            <a:pPr algn="just"/>
            <a:r>
              <a:rPr lang="en-US" dirty="0"/>
              <a:t>3. Best Deals: It finds the best prices for flights, hotels, and activities, helping you stick to your budget while getting good quality. </a:t>
            </a:r>
          </a:p>
          <a:p>
            <a:pPr algn="just"/>
            <a:endParaRPr lang="en-US" dirty="0"/>
          </a:p>
          <a:p>
            <a:pPr algn="just"/>
            <a:r>
              <a:rPr lang="en-US" dirty="0"/>
              <a:t>4. Real-Time Updates: It keeps you updated on changes like flight delays or local events and suggests alternatives to keep your plans on track. </a:t>
            </a:r>
          </a:p>
          <a:p>
            <a:pPr algn="just"/>
            <a:endParaRPr lang="en-US" dirty="0"/>
          </a:p>
          <a:p>
            <a:pPr algn="just"/>
            <a:r>
              <a:rPr lang="en-US" dirty="0"/>
              <a:t>5. Easy planning the trips: It organizes your trip into a clear plan with schedules, maps, and reminders, making it easy to follow and enjoy your travel. </a:t>
            </a:r>
          </a:p>
          <a:p>
            <a:pPr algn="just"/>
            <a:endParaRPr lang="en-US" dirty="0"/>
          </a:p>
          <a:p>
            <a:pPr algn="just"/>
            <a:r>
              <a:rPr lang="en-US" dirty="0"/>
              <a:t>6. Local Tips: It offers recommendations for things to do, places to eat, and attractions to visit, helping you find great experiences at your destination. </a:t>
            </a:r>
          </a:p>
          <a:p>
            <a:pPr algn="just"/>
            <a:endParaRPr lang="en-US" dirty="0"/>
          </a:p>
          <a:p>
            <a:pPr algn="just"/>
            <a:r>
              <a:rPr lang="en-US" dirty="0"/>
              <a:t>7. Privacy Protection: Your personal information is kept safe with strong security measures. </a:t>
            </a:r>
          </a:p>
          <a:p>
            <a:pPr algn="just"/>
            <a:endParaRPr lang="en-US" dirty="0"/>
          </a:p>
          <a:p>
            <a:pPr algn="just"/>
            <a:r>
              <a:rPr lang="en-US" dirty="0"/>
              <a:t>8. Multi language Support: It supports different languages and cultures, making it useful for everyone. </a:t>
            </a:r>
          </a:p>
        </p:txBody>
      </p:sp>
    </p:spTree>
    <p:extLst>
      <p:ext uri="{BB962C8B-B14F-4D97-AF65-F5344CB8AC3E}">
        <p14:creationId xmlns:p14="http://schemas.microsoft.com/office/powerpoint/2010/main" val="443183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EE4065-065D-CF3B-9B97-847E5ED0EE92}"/>
              </a:ext>
            </a:extLst>
          </p:cNvPr>
          <p:cNvSpPr txBox="1"/>
          <p:nvPr/>
        </p:nvSpPr>
        <p:spPr>
          <a:xfrm>
            <a:off x="1718112" y="1417486"/>
            <a:ext cx="6096000" cy="400110"/>
          </a:xfrm>
          <a:prstGeom prst="rect">
            <a:avLst/>
          </a:prstGeom>
          <a:noFill/>
        </p:spPr>
        <p:txBody>
          <a:bodyPr wrap="square">
            <a:spAutoFit/>
          </a:bodyPr>
          <a:lstStyle/>
          <a:p>
            <a:r>
              <a:rPr lang="en-IN" sz="2000" u="sng" dirty="0"/>
              <a:t>Software Requirements :</a:t>
            </a:r>
          </a:p>
        </p:txBody>
      </p:sp>
      <p:sp>
        <p:nvSpPr>
          <p:cNvPr id="5" name="TextBox 4">
            <a:extLst>
              <a:ext uri="{FF2B5EF4-FFF2-40B4-BE49-F238E27FC236}">
                <a16:creationId xmlns:a16="http://schemas.microsoft.com/office/drawing/2014/main" id="{DE418E4E-F2E9-A97B-736E-14EE86598CAF}"/>
              </a:ext>
            </a:extLst>
          </p:cNvPr>
          <p:cNvSpPr txBox="1"/>
          <p:nvPr/>
        </p:nvSpPr>
        <p:spPr>
          <a:xfrm>
            <a:off x="1657393" y="1965540"/>
            <a:ext cx="9743768" cy="2308324"/>
          </a:xfrm>
          <a:prstGeom prst="rect">
            <a:avLst/>
          </a:prstGeom>
          <a:noFill/>
        </p:spPr>
        <p:txBody>
          <a:bodyPr wrap="square" rtlCol="0">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Frontend:</a:t>
            </a:r>
            <a:r>
              <a:rPr kumimoji="0" lang="en-US" altLang="en-US" sz="1800" b="0" i="0" u="none" strike="noStrike" cap="none" normalizeH="0" baseline="0" dirty="0">
                <a:ln>
                  <a:noFill/>
                </a:ln>
                <a:solidFill>
                  <a:schemeClr val="tx1"/>
                </a:solidFill>
                <a:effectLst/>
                <a:latin typeface="Arial" panose="020B0604020202020204" pitchFamily="34" charset="0"/>
              </a:rPr>
              <a:t> we use React.js, plus HTML, CSS, and JavaScript. For </a:t>
            </a:r>
            <a:r>
              <a:rPr kumimoji="0" lang="en-US" altLang="en-US" sz="1800" b="0" i="0" u="none" strike="noStrike" cap="none" normalizeH="0" baseline="0" dirty="0" err="1">
                <a:ln>
                  <a:noFill/>
                </a:ln>
                <a:solidFill>
                  <a:schemeClr val="tx1"/>
                </a:solidFill>
                <a:effectLst/>
                <a:latin typeface="Arial" panose="020B0604020202020204" pitchFamily="34" charset="0"/>
              </a:rPr>
              <a:t>styling,we</a:t>
            </a:r>
            <a:r>
              <a:rPr kumimoji="0" lang="en-US" altLang="en-US" sz="1800" b="0" i="0" u="none" strike="noStrike" cap="none" normalizeH="0" baseline="0" dirty="0">
                <a:ln>
                  <a:noFill/>
                </a:ln>
                <a:solidFill>
                  <a:schemeClr val="tx1"/>
                </a:solidFill>
                <a:effectLst/>
                <a:latin typeface="Arial" panose="020B0604020202020204" pitchFamily="34" charset="0"/>
              </a:rPr>
              <a:t> use Bootstrap or CSS.</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Backend:</a:t>
            </a:r>
            <a:r>
              <a:rPr kumimoji="0" lang="en-US" altLang="en-US" sz="1800" b="0" i="0" u="none" strike="noStrike" cap="none" normalizeH="0" baseline="0" dirty="0">
                <a:ln>
                  <a:noFill/>
                </a:ln>
                <a:solidFill>
                  <a:schemeClr val="tx1"/>
                </a:solidFill>
                <a:effectLst/>
                <a:latin typeface="Arial" panose="020B0604020202020204" pitchFamily="34" charset="0"/>
              </a:rPr>
              <a:t> Go with Node.js and Express.js. For the AI part, use Python and some travel APIs like Skyscanner.</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Database:</a:t>
            </a:r>
            <a:r>
              <a:rPr kumimoji="0" lang="en-US" altLang="en-US" sz="1800" b="0" i="0" u="none" strike="noStrike" cap="none" normalizeH="0" baseline="0" dirty="0">
                <a:ln>
                  <a:noFill/>
                </a:ln>
                <a:solidFill>
                  <a:schemeClr val="tx1"/>
                </a:solidFill>
                <a:effectLst/>
                <a:latin typeface="Arial" panose="020B0604020202020204" pitchFamily="34" charset="0"/>
              </a:rPr>
              <a:t> You can use MongoDB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AI/ML Libraries:</a:t>
            </a:r>
            <a:r>
              <a:rPr kumimoji="0" lang="en-US" altLang="en-US" sz="1800" b="0" i="0" u="none" strike="noStrike" cap="none" normalizeH="0" baseline="0" dirty="0">
                <a:ln>
                  <a:noFill/>
                </a:ln>
                <a:solidFill>
                  <a:schemeClr val="tx1"/>
                </a:solidFill>
                <a:effectLst/>
                <a:latin typeface="Arial" panose="020B0604020202020204" pitchFamily="34" charset="0"/>
              </a:rPr>
              <a:t> Use scikit-learn or TensorFlow for AI stuff, plus some NLP tools like </a:t>
            </a:r>
            <a:r>
              <a:rPr kumimoji="0" lang="en-US" altLang="en-US" sz="1800" b="0" i="0" u="none" strike="noStrike" cap="none" normalizeH="0" baseline="0" dirty="0" err="1">
                <a:ln>
                  <a:noFill/>
                </a:ln>
                <a:solidFill>
                  <a:schemeClr val="tx1"/>
                </a:solidFill>
                <a:effectLst/>
                <a:latin typeface="Arial" panose="020B0604020202020204" pitchFamily="34" charset="0"/>
              </a:rPr>
              <a:t>spaCy</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Tools:</a:t>
            </a:r>
            <a:r>
              <a:rPr kumimoji="0" lang="en-US" altLang="en-US" sz="1800" b="0" i="0" u="none" strike="noStrike" cap="none" normalizeH="0" baseline="0" dirty="0">
                <a:ln>
                  <a:noFill/>
                </a:ln>
                <a:solidFill>
                  <a:schemeClr val="tx1"/>
                </a:solidFill>
                <a:effectLst/>
                <a:latin typeface="Arial" panose="020B0604020202020204" pitchFamily="34" charset="0"/>
              </a:rPr>
              <a:t> Git for version control, VS Code for coding.</a:t>
            </a:r>
          </a:p>
        </p:txBody>
      </p:sp>
      <p:sp>
        <p:nvSpPr>
          <p:cNvPr id="9" name="TextBox 8">
            <a:extLst>
              <a:ext uri="{FF2B5EF4-FFF2-40B4-BE49-F238E27FC236}">
                <a16:creationId xmlns:a16="http://schemas.microsoft.com/office/drawing/2014/main" id="{0F05FAC3-97D0-9ECB-B361-D1808E78A3A4}"/>
              </a:ext>
            </a:extLst>
          </p:cNvPr>
          <p:cNvSpPr txBox="1"/>
          <p:nvPr/>
        </p:nvSpPr>
        <p:spPr>
          <a:xfrm>
            <a:off x="1727133" y="4337040"/>
            <a:ext cx="4277033" cy="400110"/>
          </a:xfrm>
          <a:prstGeom prst="rect">
            <a:avLst/>
          </a:prstGeom>
          <a:noFill/>
        </p:spPr>
        <p:txBody>
          <a:bodyPr wrap="square" rtlCol="0">
            <a:spAutoFit/>
          </a:bodyPr>
          <a:lstStyle/>
          <a:p>
            <a:r>
              <a:rPr lang="en-IN" sz="2000" u="sng" dirty="0"/>
              <a:t>Hardware Requirements:</a:t>
            </a:r>
          </a:p>
        </p:txBody>
      </p:sp>
      <p:sp>
        <p:nvSpPr>
          <p:cNvPr id="10" name="TextBox 9">
            <a:extLst>
              <a:ext uri="{FF2B5EF4-FFF2-40B4-BE49-F238E27FC236}">
                <a16:creationId xmlns:a16="http://schemas.microsoft.com/office/drawing/2014/main" id="{849DA32F-C354-F5E0-C2B7-BB4237F2255C}"/>
              </a:ext>
            </a:extLst>
          </p:cNvPr>
          <p:cNvSpPr txBox="1"/>
          <p:nvPr/>
        </p:nvSpPr>
        <p:spPr>
          <a:xfrm>
            <a:off x="1704527" y="4977758"/>
            <a:ext cx="9301317" cy="1200329"/>
          </a:xfrm>
          <a:prstGeom prst="rect">
            <a:avLst/>
          </a:prstGeom>
          <a:noFill/>
        </p:spPr>
        <p:txBody>
          <a:bodyPr wrap="square" rtlCol="0">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CPU:</a:t>
            </a:r>
            <a:r>
              <a:rPr kumimoji="0" lang="en-US" altLang="en-US" sz="1800" b="0" i="0" u="none" strike="noStrike" cap="none" normalizeH="0" baseline="0" dirty="0">
                <a:ln>
                  <a:noFill/>
                </a:ln>
                <a:solidFill>
                  <a:schemeClr val="tx1"/>
                </a:solidFill>
                <a:effectLst/>
                <a:latin typeface="Arial" panose="020B0604020202020204" pitchFamily="34" charset="0"/>
              </a:rPr>
              <a:t> Multiple cores (quad-core or higher)</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RAM:</a:t>
            </a:r>
            <a:r>
              <a:rPr kumimoji="0" lang="en-US" altLang="en-US" sz="1800" b="0" i="0" u="none" strike="noStrike" cap="none" normalizeH="0" baseline="0" dirty="0">
                <a:ln>
                  <a:noFill/>
                </a:ln>
                <a:solidFill>
                  <a:schemeClr val="tx1"/>
                </a:solidFill>
                <a:effectLst/>
                <a:latin typeface="Arial" panose="020B0604020202020204" pitchFamily="34" charset="0"/>
              </a:rPr>
              <a:t> Minimum 8 GB (16 GB+ recommended for handling concurrent requests)</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Storage:</a:t>
            </a:r>
            <a:r>
              <a:rPr kumimoji="0" lang="en-US" altLang="en-US" sz="1800" b="0" i="0" u="none" strike="noStrike" cap="none" normalizeH="0" baseline="0" dirty="0">
                <a:ln>
                  <a:noFill/>
                </a:ln>
                <a:solidFill>
                  <a:schemeClr val="tx1"/>
                </a:solidFill>
                <a:effectLst/>
                <a:latin typeface="Arial" panose="020B0604020202020204" pitchFamily="34" charset="0"/>
              </a:rPr>
              <a:t> SSD with at least 100 GB for application, user data, and logs</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b="1" dirty="0"/>
              <a:t>Network:</a:t>
            </a:r>
            <a:r>
              <a:rPr lang="en-US" dirty="0"/>
              <a:t> High-speed internet connection for real-time API integration and user access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AF167849-9499-B40A-3AD9-9899D696BBA8}"/>
              </a:ext>
            </a:extLst>
          </p:cNvPr>
          <p:cNvSpPr txBox="1"/>
          <p:nvPr/>
        </p:nvSpPr>
        <p:spPr>
          <a:xfrm>
            <a:off x="1727463" y="692026"/>
            <a:ext cx="6094428" cy="523220"/>
          </a:xfrm>
          <a:prstGeom prst="rect">
            <a:avLst/>
          </a:prstGeom>
          <a:noFill/>
        </p:spPr>
        <p:txBody>
          <a:bodyPr wrap="square">
            <a:spAutoFit/>
          </a:bodyPr>
          <a:lstStyle/>
          <a:p>
            <a:r>
              <a:rPr lang="en-IN" sz="2800" b="1" u="sng" dirty="0"/>
              <a:t>Requirements:</a:t>
            </a:r>
            <a:endParaRPr lang="en-IN" sz="2800" dirty="0"/>
          </a:p>
        </p:txBody>
      </p:sp>
    </p:spTree>
    <p:extLst>
      <p:ext uri="{BB962C8B-B14F-4D97-AF65-F5344CB8AC3E}">
        <p14:creationId xmlns:p14="http://schemas.microsoft.com/office/powerpoint/2010/main" val="697734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A49D53C-5259-44BF-03A6-B84C1D1B33B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6486" y="1715678"/>
            <a:ext cx="5614120" cy="4179520"/>
          </a:xfrm>
          <a:prstGeom prst="rect">
            <a:avLst/>
          </a:prstGeom>
          <a:noFill/>
          <a:ln>
            <a:noFill/>
          </a:ln>
        </p:spPr>
      </p:pic>
      <p:sp>
        <p:nvSpPr>
          <p:cNvPr id="4" name="TextBox 3">
            <a:extLst>
              <a:ext uri="{FF2B5EF4-FFF2-40B4-BE49-F238E27FC236}">
                <a16:creationId xmlns:a16="http://schemas.microsoft.com/office/drawing/2014/main" id="{E128CCB0-4470-8060-2071-5298F66195CE}"/>
              </a:ext>
            </a:extLst>
          </p:cNvPr>
          <p:cNvSpPr txBox="1"/>
          <p:nvPr/>
        </p:nvSpPr>
        <p:spPr>
          <a:xfrm>
            <a:off x="1736888" y="795721"/>
            <a:ext cx="6094428" cy="400110"/>
          </a:xfrm>
          <a:prstGeom prst="rect">
            <a:avLst/>
          </a:prstGeom>
          <a:noFill/>
        </p:spPr>
        <p:txBody>
          <a:bodyPr wrap="square">
            <a:spAutoFit/>
          </a:bodyPr>
          <a:lstStyle/>
          <a:p>
            <a:r>
              <a:rPr lang="en-IN" sz="2000" b="1" u="sng" dirty="0"/>
              <a:t>Class Diagram:</a:t>
            </a:r>
            <a:endParaRPr lang="en-IN" sz="2000" dirty="0"/>
          </a:p>
        </p:txBody>
      </p:sp>
      <p:pic>
        <p:nvPicPr>
          <p:cNvPr id="5" name="Picture 4">
            <a:extLst>
              <a:ext uri="{FF2B5EF4-FFF2-40B4-BE49-F238E27FC236}">
                <a16:creationId xmlns:a16="http://schemas.microsoft.com/office/drawing/2014/main" id="{CAE136DD-8D72-CA0A-D457-91820A9644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07025" y="1762812"/>
            <a:ext cx="6065922" cy="4138367"/>
          </a:xfrm>
          <a:prstGeom prst="rect">
            <a:avLst/>
          </a:prstGeom>
        </p:spPr>
      </p:pic>
      <p:sp>
        <p:nvSpPr>
          <p:cNvPr id="7" name="TextBox 6">
            <a:extLst>
              <a:ext uri="{FF2B5EF4-FFF2-40B4-BE49-F238E27FC236}">
                <a16:creationId xmlns:a16="http://schemas.microsoft.com/office/drawing/2014/main" id="{C3C84433-ACF6-1503-3939-B219C5C030D4}"/>
              </a:ext>
            </a:extLst>
          </p:cNvPr>
          <p:cNvSpPr txBox="1"/>
          <p:nvPr/>
        </p:nvSpPr>
        <p:spPr>
          <a:xfrm>
            <a:off x="6097572" y="786294"/>
            <a:ext cx="6094428" cy="400110"/>
          </a:xfrm>
          <a:prstGeom prst="rect">
            <a:avLst/>
          </a:prstGeom>
          <a:noFill/>
        </p:spPr>
        <p:txBody>
          <a:bodyPr wrap="square">
            <a:spAutoFit/>
          </a:bodyPr>
          <a:lstStyle/>
          <a:p>
            <a:r>
              <a:rPr lang="en-IN" sz="2000" b="1" u="sng" dirty="0"/>
              <a:t>Sequence Diagram</a:t>
            </a:r>
          </a:p>
        </p:txBody>
      </p:sp>
    </p:spTree>
    <p:extLst>
      <p:ext uri="{BB962C8B-B14F-4D97-AF65-F5344CB8AC3E}">
        <p14:creationId xmlns:p14="http://schemas.microsoft.com/office/powerpoint/2010/main" val="2132668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26CAF2A-E9DC-5DCE-EAF3-90D4C67FC1BA}"/>
              </a:ext>
            </a:extLst>
          </p:cNvPr>
          <p:cNvPicPr>
            <a:picLocks noChangeAspect="1"/>
          </p:cNvPicPr>
          <p:nvPr/>
        </p:nvPicPr>
        <p:blipFill>
          <a:blip r:embed="rId3">
            <a:extLst>
              <a:ext uri="{28A0092B-C50C-407E-A947-70E740481C1C}">
                <a14:useLocalDpi xmlns:a14="http://schemas.microsoft.com/office/drawing/2010/main" val="0"/>
              </a:ext>
            </a:extLst>
          </a:blip>
          <a:srcRect t="1787" b="4054"/>
          <a:stretch/>
        </p:blipFill>
        <p:spPr>
          <a:xfrm>
            <a:off x="1951458" y="509048"/>
            <a:ext cx="2179557" cy="5806912"/>
          </a:xfrm>
          <a:prstGeom prst="rect">
            <a:avLst/>
          </a:prstGeom>
        </p:spPr>
      </p:pic>
      <p:pic>
        <p:nvPicPr>
          <p:cNvPr id="5" name="Picture 4">
            <a:extLst>
              <a:ext uri="{FF2B5EF4-FFF2-40B4-BE49-F238E27FC236}">
                <a16:creationId xmlns:a16="http://schemas.microsoft.com/office/drawing/2014/main" id="{2A9CA406-DE2B-A995-2E15-A8266A5D10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59001" y="537328"/>
            <a:ext cx="6780512" cy="5755064"/>
          </a:xfrm>
          <a:prstGeom prst="rect">
            <a:avLst/>
          </a:prstGeom>
        </p:spPr>
      </p:pic>
      <p:sp>
        <p:nvSpPr>
          <p:cNvPr id="7" name="TextBox 6">
            <a:extLst>
              <a:ext uri="{FF2B5EF4-FFF2-40B4-BE49-F238E27FC236}">
                <a16:creationId xmlns:a16="http://schemas.microsoft.com/office/drawing/2014/main" id="{FAA98DFA-AF2E-43E6-C37D-7792D5E8F734}"/>
              </a:ext>
            </a:extLst>
          </p:cNvPr>
          <p:cNvSpPr txBox="1"/>
          <p:nvPr/>
        </p:nvSpPr>
        <p:spPr>
          <a:xfrm>
            <a:off x="2189376" y="6376389"/>
            <a:ext cx="6094428" cy="400110"/>
          </a:xfrm>
          <a:prstGeom prst="rect">
            <a:avLst/>
          </a:prstGeom>
          <a:noFill/>
        </p:spPr>
        <p:txBody>
          <a:bodyPr wrap="square">
            <a:spAutoFit/>
          </a:bodyPr>
          <a:lstStyle/>
          <a:p>
            <a:r>
              <a:rPr lang="en-IN" sz="2000" b="1" u="sng" dirty="0"/>
              <a:t>Flow Chart</a:t>
            </a:r>
          </a:p>
        </p:txBody>
      </p:sp>
      <p:sp>
        <p:nvSpPr>
          <p:cNvPr id="9" name="TextBox 8">
            <a:extLst>
              <a:ext uri="{FF2B5EF4-FFF2-40B4-BE49-F238E27FC236}">
                <a16:creationId xmlns:a16="http://schemas.microsoft.com/office/drawing/2014/main" id="{807F6CE2-B672-438D-F4EA-EA6589BF72D8}"/>
              </a:ext>
            </a:extLst>
          </p:cNvPr>
          <p:cNvSpPr txBox="1"/>
          <p:nvPr/>
        </p:nvSpPr>
        <p:spPr>
          <a:xfrm>
            <a:off x="7392972" y="6291548"/>
            <a:ext cx="6094428"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b="1" u="sng" dirty="0"/>
              <a:t>Use-Case Diagram</a:t>
            </a:r>
          </a:p>
        </p:txBody>
      </p:sp>
    </p:spTree>
    <p:extLst>
      <p:ext uri="{BB962C8B-B14F-4D97-AF65-F5344CB8AC3E}">
        <p14:creationId xmlns:p14="http://schemas.microsoft.com/office/powerpoint/2010/main" val="3610062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DEB30F-E805-4932-243A-28A84A51E9E9}"/>
              </a:ext>
            </a:extLst>
          </p:cNvPr>
          <p:cNvSpPr txBox="1"/>
          <p:nvPr/>
        </p:nvSpPr>
        <p:spPr>
          <a:xfrm>
            <a:off x="1736889" y="446929"/>
            <a:ext cx="6094428" cy="523220"/>
          </a:xfrm>
          <a:prstGeom prst="rect">
            <a:avLst/>
          </a:prstGeom>
          <a:noFill/>
        </p:spPr>
        <p:txBody>
          <a:bodyPr wrap="square">
            <a:spAutoFit/>
          </a:bodyPr>
          <a:lstStyle/>
          <a:p>
            <a:r>
              <a:rPr lang="en-IN" sz="2800" b="1" u="sng" dirty="0"/>
              <a:t>Results:</a:t>
            </a:r>
          </a:p>
        </p:txBody>
      </p:sp>
      <p:sp>
        <p:nvSpPr>
          <p:cNvPr id="2" name="AutoShape 2">
            <a:extLst>
              <a:ext uri="{FF2B5EF4-FFF2-40B4-BE49-F238E27FC236}">
                <a16:creationId xmlns:a16="http://schemas.microsoft.com/office/drawing/2014/main" id="{2DDC9314-0F37-715A-4758-40D9A911B1F0}"/>
              </a:ext>
            </a:extLst>
          </p:cNvPr>
          <p:cNvSpPr>
            <a:spLocks noChangeAspect="1" noChangeArrowheads="1"/>
          </p:cNvSpPr>
          <p:nvPr/>
        </p:nvSpPr>
        <p:spPr bwMode="auto">
          <a:xfrm>
            <a:off x="2766766" y="1966273"/>
            <a:ext cx="3483205" cy="260651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a:extLst>
              <a:ext uri="{FF2B5EF4-FFF2-40B4-BE49-F238E27FC236}">
                <a16:creationId xmlns:a16="http://schemas.microsoft.com/office/drawing/2014/main" id="{D1C27FCA-F97F-98E4-6B6B-F5846BD7AE5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4861" y="3636310"/>
            <a:ext cx="5622197" cy="3009900"/>
          </a:xfrm>
          <a:prstGeom prst="rect">
            <a:avLst/>
          </a:prstGeom>
          <a:noFill/>
        </p:spPr>
      </p:pic>
      <p:pic>
        <p:nvPicPr>
          <p:cNvPr id="5" name="Picture 4">
            <a:extLst>
              <a:ext uri="{FF2B5EF4-FFF2-40B4-BE49-F238E27FC236}">
                <a16:creationId xmlns:a16="http://schemas.microsoft.com/office/drawing/2014/main" id="{006FE0CD-C2DB-1A12-3278-F04FF83B4FC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515546" y="159311"/>
            <a:ext cx="6062980" cy="3225800"/>
          </a:xfrm>
          <a:prstGeom prst="rect">
            <a:avLst/>
          </a:prstGeom>
          <a:noFill/>
        </p:spPr>
      </p:pic>
      <p:pic>
        <p:nvPicPr>
          <p:cNvPr id="6" name="Picture 5">
            <a:extLst>
              <a:ext uri="{FF2B5EF4-FFF2-40B4-BE49-F238E27FC236}">
                <a16:creationId xmlns:a16="http://schemas.microsoft.com/office/drawing/2014/main" id="{33D5BFC8-4CF6-4C8C-D914-71E4966C2C0D}"/>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036049" y="3526828"/>
            <a:ext cx="6000750" cy="3013710"/>
          </a:xfrm>
          <a:prstGeom prst="rect">
            <a:avLst/>
          </a:prstGeom>
          <a:noFill/>
        </p:spPr>
      </p:pic>
    </p:spTree>
    <p:extLst>
      <p:ext uri="{BB962C8B-B14F-4D97-AF65-F5344CB8AC3E}">
        <p14:creationId xmlns:p14="http://schemas.microsoft.com/office/powerpoint/2010/main" val="3915475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09EAED7-9AE1-C7A5-2E23-5048A4D3406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71265" y="91496"/>
            <a:ext cx="6000750" cy="3145155"/>
          </a:xfrm>
          <a:prstGeom prst="rect">
            <a:avLst/>
          </a:prstGeom>
          <a:noFill/>
        </p:spPr>
      </p:pic>
      <p:pic>
        <p:nvPicPr>
          <p:cNvPr id="3" name="Picture 2">
            <a:extLst>
              <a:ext uri="{FF2B5EF4-FFF2-40B4-BE49-F238E27FC236}">
                <a16:creationId xmlns:a16="http://schemas.microsoft.com/office/drawing/2014/main" id="{631C29D9-038C-9F9B-AA5A-8640DBAD667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120447" y="3560968"/>
            <a:ext cx="5742305" cy="3054985"/>
          </a:xfrm>
          <a:prstGeom prst="rect">
            <a:avLst/>
          </a:prstGeom>
          <a:noFill/>
        </p:spPr>
      </p:pic>
      <p:sp>
        <p:nvSpPr>
          <p:cNvPr id="4" name="AutoShape 2">
            <a:extLst>
              <a:ext uri="{FF2B5EF4-FFF2-40B4-BE49-F238E27FC236}">
                <a16:creationId xmlns:a16="http://schemas.microsoft.com/office/drawing/2014/main" id="{0C040D52-7154-92ED-B8BC-33DFEEAD49F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a:extLst>
              <a:ext uri="{FF2B5EF4-FFF2-40B4-BE49-F238E27FC236}">
                <a16:creationId xmlns:a16="http://schemas.microsoft.com/office/drawing/2014/main" id="{4B6DA391-1757-A139-A2D8-F6F903BE4941}"/>
              </a:ext>
            </a:extLst>
          </p:cNvPr>
          <p:cNvPicPr>
            <a:picLocks noChangeAspect="1"/>
          </p:cNvPicPr>
          <p:nvPr/>
        </p:nvPicPr>
        <p:blipFill>
          <a:blip r:embed="rId4"/>
          <a:stretch>
            <a:fillRect/>
          </a:stretch>
        </p:blipFill>
        <p:spPr>
          <a:xfrm>
            <a:off x="453659" y="3711389"/>
            <a:ext cx="5480975" cy="2916050"/>
          </a:xfrm>
          <a:prstGeom prst="rect">
            <a:avLst/>
          </a:prstGeom>
        </p:spPr>
      </p:pic>
    </p:spTree>
    <p:extLst>
      <p:ext uri="{BB962C8B-B14F-4D97-AF65-F5344CB8AC3E}">
        <p14:creationId xmlns:p14="http://schemas.microsoft.com/office/powerpoint/2010/main" val="3363188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F86B24C-F688-1353-B2C3-BA2724731A26}"/>
              </a:ext>
            </a:extLst>
          </p:cNvPr>
          <p:cNvSpPr txBox="1"/>
          <p:nvPr/>
        </p:nvSpPr>
        <p:spPr>
          <a:xfrm>
            <a:off x="1972561" y="927696"/>
            <a:ext cx="6094428" cy="523220"/>
          </a:xfrm>
          <a:prstGeom prst="rect">
            <a:avLst/>
          </a:prstGeom>
          <a:noFill/>
        </p:spPr>
        <p:txBody>
          <a:bodyPr wrap="square">
            <a:spAutoFit/>
          </a:bodyPr>
          <a:lstStyle/>
          <a:p>
            <a:r>
              <a:rPr lang="en-IN" sz="2800" b="1" u="sng" dirty="0"/>
              <a:t>Conclusion:</a:t>
            </a:r>
          </a:p>
        </p:txBody>
      </p:sp>
      <p:sp>
        <p:nvSpPr>
          <p:cNvPr id="5" name="TextBox 4">
            <a:extLst>
              <a:ext uri="{FF2B5EF4-FFF2-40B4-BE49-F238E27FC236}">
                <a16:creationId xmlns:a16="http://schemas.microsoft.com/office/drawing/2014/main" id="{E7C5D8E9-3C63-92DB-1224-E7214CD12400}"/>
              </a:ext>
            </a:extLst>
          </p:cNvPr>
          <p:cNvSpPr txBox="1"/>
          <p:nvPr/>
        </p:nvSpPr>
        <p:spPr>
          <a:xfrm>
            <a:off x="2660717" y="1931305"/>
            <a:ext cx="7397684" cy="3139321"/>
          </a:xfrm>
          <a:prstGeom prst="rect">
            <a:avLst/>
          </a:prstGeom>
          <a:noFill/>
        </p:spPr>
        <p:txBody>
          <a:bodyPr wrap="square">
            <a:spAutoFit/>
          </a:bodyPr>
          <a:lstStyle/>
          <a:p>
            <a:pPr marL="285750" indent="-285750" algn="just">
              <a:buFont typeface="Wingdings" panose="05000000000000000000" pitchFamily="2" charset="2"/>
              <a:buChar char="Ø"/>
            </a:pPr>
            <a:r>
              <a:rPr lang="en-US" dirty="0"/>
              <a:t>The implementation of the Smart Travel Planner showcases how technology can simplify and enhance travel planning. </a:t>
            </a:r>
          </a:p>
          <a:p>
            <a:pPr algn="just"/>
            <a:endParaRPr lang="en-US" dirty="0"/>
          </a:p>
          <a:p>
            <a:pPr marL="285750" indent="-285750" algn="just">
              <a:buFont typeface="Wingdings" panose="05000000000000000000" pitchFamily="2" charset="2"/>
              <a:buChar char="Ø"/>
            </a:pPr>
            <a:r>
              <a:rPr lang="en-US" dirty="0"/>
              <a:t>By combining AI, real-time data, and user-friendly design, the planner delivers personalized itineraries and valuable recommendations. It also emphasizes sustainable and culturally sensitive travel practices, addressing modern travelers' diverse needs. </a:t>
            </a:r>
          </a:p>
          <a:p>
            <a:pPr algn="just"/>
            <a:endParaRPr lang="en-US" dirty="0"/>
          </a:p>
          <a:p>
            <a:pPr marL="285750" indent="-285750" algn="just">
              <a:buFont typeface="Wingdings" panose="05000000000000000000" pitchFamily="2" charset="2"/>
              <a:buChar char="Ø"/>
            </a:pPr>
            <a:r>
              <a:rPr lang="en-US" dirty="0"/>
              <a:t>This project fosters essential skills such as teamwork, problem-solving, and adaptability, providing a strong foundation for tackling real-world challenges.</a:t>
            </a:r>
          </a:p>
        </p:txBody>
      </p:sp>
    </p:spTree>
    <p:extLst>
      <p:ext uri="{BB962C8B-B14F-4D97-AF65-F5344CB8AC3E}">
        <p14:creationId xmlns:p14="http://schemas.microsoft.com/office/powerpoint/2010/main" val="80763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AE6666F-1548-D6DE-A3F5-9A411A4EB278}"/>
              </a:ext>
            </a:extLst>
          </p:cNvPr>
          <p:cNvSpPr txBox="1"/>
          <p:nvPr/>
        </p:nvSpPr>
        <p:spPr>
          <a:xfrm>
            <a:off x="1784023" y="758013"/>
            <a:ext cx="6094428" cy="523220"/>
          </a:xfrm>
          <a:prstGeom prst="rect">
            <a:avLst/>
          </a:prstGeom>
          <a:noFill/>
        </p:spPr>
        <p:txBody>
          <a:bodyPr wrap="square">
            <a:spAutoFit/>
          </a:bodyPr>
          <a:lstStyle/>
          <a:p>
            <a:r>
              <a:rPr lang="en-IN" sz="2800" b="1" u="sng" dirty="0"/>
              <a:t>References:</a:t>
            </a:r>
          </a:p>
        </p:txBody>
      </p:sp>
      <p:sp>
        <p:nvSpPr>
          <p:cNvPr id="5" name="TextBox 4">
            <a:extLst>
              <a:ext uri="{FF2B5EF4-FFF2-40B4-BE49-F238E27FC236}">
                <a16:creationId xmlns:a16="http://schemas.microsoft.com/office/drawing/2014/main" id="{C7768BF9-BA60-76E4-B109-FA55B5DADA66}"/>
              </a:ext>
            </a:extLst>
          </p:cNvPr>
          <p:cNvSpPr txBox="1"/>
          <p:nvPr/>
        </p:nvSpPr>
        <p:spPr>
          <a:xfrm>
            <a:off x="1718034" y="1309242"/>
            <a:ext cx="9584703" cy="5355312"/>
          </a:xfrm>
          <a:prstGeom prst="rect">
            <a:avLst/>
          </a:prstGeom>
          <a:noFill/>
        </p:spPr>
        <p:txBody>
          <a:bodyPr wrap="square">
            <a:spAutoFit/>
          </a:bodyPr>
          <a:lstStyle/>
          <a:p>
            <a:endParaRPr lang="en-IN" dirty="0"/>
          </a:p>
          <a:p>
            <a:pPr algn="just"/>
            <a:r>
              <a:rPr lang="en-IN" dirty="0"/>
              <a:t>1.Chavan, R., </a:t>
            </a:r>
            <a:r>
              <a:rPr lang="en-IN" dirty="0" err="1"/>
              <a:t>Bhoir</a:t>
            </a:r>
            <a:r>
              <a:rPr lang="en-IN" dirty="0"/>
              <a:t>, M., </a:t>
            </a:r>
            <a:r>
              <a:rPr lang="en-IN" dirty="0" err="1"/>
              <a:t>Sapkale</a:t>
            </a:r>
            <a:r>
              <a:rPr lang="en-IN" dirty="0"/>
              <a:t>, G., &amp; Mhatre, A. (n.d.). Smart Tourist Guide System. Datta </a:t>
            </a:r>
            <a:r>
              <a:rPr lang="en-IN" dirty="0" err="1"/>
              <a:t>Meghe</a:t>
            </a:r>
            <a:r>
              <a:rPr lang="en-IN" dirty="0"/>
              <a:t> College of Engineering, Navi Mumbai, Maharashtra. </a:t>
            </a:r>
          </a:p>
          <a:p>
            <a:pPr algn="just"/>
            <a:endParaRPr lang="en-IN" dirty="0"/>
          </a:p>
          <a:p>
            <a:pPr algn="just"/>
            <a:r>
              <a:rPr lang="en-IN" dirty="0"/>
              <a:t>2. ChatGPT as a Travel Itinerary Planner", authored by Katerina </a:t>
            </a:r>
            <a:r>
              <a:rPr lang="en-IN" dirty="0" err="1"/>
              <a:t>Volchek</a:t>
            </a:r>
            <a:r>
              <a:rPr lang="en-IN" dirty="0"/>
              <a:t> and Stanislav Ivanov. It was published in 2024 as part of the proceedings for ENTER 2024. It is licensed under the Creative Commons Attribution 4.0 International License, allowing use and sharing with appropriate credit. </a:t>
            </a:r>
          </a:p>
          <a:p>
            <a:pPr algn="just"/>
            <a:endParaRPr lang="en-IN" dirty="0"/>
          </a:p>
          <a:p>
            <a:pPr algn="just"/>
            <a:r>
              <a:rPr lang="en-IN" dirty="0"/>
              <a:t>3. R. Jafri, A. S. </a:t>
            </a:r>
            <a:r>
              <a:rPr lang="en-IN" dirty="0" err="1"/>
              <a:t>Alkhunji</a:t>
            </a:r>
            <a:r>
              <a:rPr lang="en-IN" dirty="0"/>
              <a:t>, G. K. </a:t>
            </a:r>
            <a:r>
              <a:rPr lang="en-IN" dirty="0" err="1"/>
              <a:t>Alhader</a:t>
            </a:r>
            <a:r>
              <a:rPr lang="en-IN" dirty="0"/>
              <a:t>, H. R. </a:t>
            </a:r>
            <a:r>
              <a:rPr lang="en-IN" dirty="0" err="1"/>
              <a:t>Alrabeiah</a:t>
            </a:r>
            <a:r>
              <a:rPr lang="en-IN" dirty="0"/>
              <a:t>, N. A. </a:t>
            </a:r>
            <a:r>
              <a:rPr lang="en-IN" dirty="0" err="1"/>
              <a:t>Alhammad</a:t>
            </a:r>
            <a:r>
              <a:rPr lang="en-IN" dirty="0"/>
              <a:t> and S. K. </a:t>
            </a:r>
            <a:r>
              <a:rPr lang="en-IN" dirty="0" err="1"/>
              <a:t>Alzahrani</a:t>
            </a:r>
            <a:r>
              <a:rPr lang="en-IN" dirty="0"/>
              <a:t>, "Smart Travel Planner: A mashup of travel-related web services," 2013 International Conference on Current Trends in Information Technology (CTIT), Dubai, United Arab Emirates, 2013, pp. 181-185. </a:t>
            </a:r>
          </a:p>
          <a:p>
            <a:pPr algn="just"/>
            <a:endParaRPr lang="en-IN" dirty="0"/>
          </a:p>
          <a:p>
            <a:pPr algn="just"/>
            <a:r>
              <a:rPr lang="en-IN" dirty="0"/>
              <a:t>4. AI-Driven Personalized Recommendation System and was presented as part of the Proceedings of Digital Expert Symposium (</a:t>
            </a:r>
            <a:r>
              <a:rPr lang="en-IN" dirty="0" err="1"/>
              <a:t>deXsym</a:t>
            </a:r>
            <a:r>
              <a:rPr lang="en-IN" dirty="0"/>
              <a:t>) 2023, published by </a:t>
            </a:r>
            <a:r>
              <a:rPr lang="en-IN" dirty="0" err="1"/>
              <a:t>Koperasi</a:t>
            </a:r>
            <a:r>
              <a:rPr lang="en-IN" dirty="0"/>
              <a:t> </a:t>
            </a:r>
            <a:r>
              <a:rPr lang="en-IN" dirty="0" err="1"/>
              <a:t>Pakar</a:t>
            </a:r>
            <a:r>
              <a:rPr lang="en-IN" dirty="0"/>
              <a:t> Digital (</a:t>
            </a:r>
            <a:r>
              <a:rPr lang="en-IN" dirty="0" err="1"/>
              <a:t>CodeX</a:t>
            </a:r>
            <a:r>
              <a:rPr lang="en-IN" dirty="0"/>
              <a:t>) Kedah </a:t>
            </a:r>
            <a:r>
              <a:rPr lang="en-IN" dirty="0" err="1"/>
              <a:t>Berhad</a:t>
            </a:r>
            <a:r>
              <a:rPr lang="en-IN" dirty="0"/>
              <a:t>. It was authored by Adib </a:t>
            </a:r>
            <a:r>
              <a:rPr lang="en-IN" dirty="0" err="1"/>
              <a:t>Habbal</a:t>
            </a:r>
            <a:r>
              <a:rPr lang="en-IN" dirty="0"/>
              <a:t>, </a:t>
            </a:r>
            <a:r>
              <a:rPr lang="en-IN" dirty="0" err="1"/>
              <a:t>Farizan</a:t>
            </a:r>
            <a:r>
              <a:rPr lang="en-IN" dirty="0"/>
              <a:t> Salleh, and </a:t>
            </a:r>
            <a:r>
              <a:rPr lang="en-IN" dirty="0" err="1"/>
              <a:t>Suhaidi</a:t>
            </a:r>
            <a:r>
              <a:rPr lang="en-IN" dirty="0"/>
              <a:t> Hassan, among others, and published in December 2023. </a:t>
            </a:r>
          </a:p>
          <a:p>
            <a:pPr algn="just"/>
            <a:endParaRPr lang="en-IN" dirty="0"/>
          </a:p>
          <a:p>
            <a:pPr algn="just"/>
            <a:r>
              <a:rPr lang="en-IN" dirty="0"/>
              <a:t>5."Smart Travel Guide Application," authored by Mohana Priya and Vinoth Kiron </a:t>
            </a:r>
            <a:r>
              <a:rPr lang="en-IN" dirty="0" err="1"/>
              <a:t>Sadhasivam</a:t>
            </a:r>
            <a:r>
              <a:rPr lang="en-IN" dirty="0"/>
              <a:t> from the Sri Shakthi Institute of Engineering and Technology.  </a:t>
            </a:r>
          </a:p>
        </p:txBody>
      </p:sp>
    </p:spTree>
    <p:extLst>
      <p:ext uri="{BB962C8B-B14F-4D97-AF65-F5344CB8AC3E}">
        <p14:creationId xmlns:p14="http://schemas.microsoft.com/office/powerpoint/2010/main" val="3954951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DD47680-F532-4B06-01E1-4FEB6CA37AEF}"/>
              </a:ext>
            </a:extLst>
          </p:cNvPr>
          <p:cNvSpPr txBox="1"/>
          <p:nvPr/>
        </p:nvSpPr>
        <p:spPr>
          <a:xfrm>
            <a:off x="2217657" y="1562995"/>
            <a:ext cx="8990814" cy="5078313"/>
          </a:xfrm>
          <a:prstGeom prst="rect">
            <a:avLst/>
          </a:prstGeom>
          <a:noFill/>
        </p:spPr>
        <p:txBody>
          <a:bodyPr wrap="square">
            <a:spAutoFit/>
          </a:bodyPr>
          <a:lstStyle/>
          <a:p>
            <a:pPr algn="just"/>
            <a:r>
              <a:rPr lang="en-IN" dirty="0"/>
              <a:t>6. S. B. </a:t>
            </a:r>
            <a:r>
              <a:rPr lang="en-IN" dirty="0" err="1"/>
              <a:t>Dasari</a:t>
            </a:r>
            <a:r>
              <a:rPr lang="en-IN" dirty="0"/>
              <a:t>, V. Vandana and A. </a:t>
            </a:r>
            <a:r>
              <a:rPr lang="en-IN" dirty="0" err="1"/>
              <a:t>Bhharathee</a:t>
            </a:r>
            <a:r>
              <a:rPr lang="en-IN" dirty="0"/>
              <a:t>, "Smart Travel Planner using Hybrid Model," 2023 International Conference on Intelligent Data Communication Technologies and Internet of Things (</a:t>
            </a:r>
            <a:r>
              <a:rPr lang="en-IN" dirty="0" err="1"/>
              <a:t>IDCIoT</a:t>
            </a:r>
            <a:r>
              <a:rPr lang="en-IN" dirty="0"/>
              <a:t>), Bengaluru, India, 2023, pp. 647-652. </a:t>
            </a:r>
          </a:p>
          <a:p>
            <a:pPr algn="just"/>
            <a:endParaRPr lang="en-IN" dirty="0"/>
          </a:p>
          <a:p>
            <a:pPr algn="just"/>
            <a:r>
              <a:rPr lang="en-IN" dirty="0"/>
              <a:t>7. Ki-</a:t>
            </a:r>
            <a:r>
              <a:rPr lang="en-IN" dirty="0" err="1"/>
              <a:t>Beom</a:t>
            </a:r>
            <a:r>
              <a:rPr lang="en-IN" dirty="0"/>
              <a:t> Kang, </a:t>
            </a:r>
            <a:r>
              <a:rPr lang="en-IN" dirty="0" err="1"/>
              <a:t>Myeong</a:t>
            </a:r>
            <a:r>
              <a:rPr lang="en-IN" dirty="0"/>
              <a:t> </a:t>
            </a:r>
            <a:r>
              <a:rPr lang="en-IN" dirty="0" err="1"/>
              <a:t>Gyun</a:t>
            </a:r>
            <a:r>
              <a:rPr lang="en-IN" dirty="0"/>
              <a:t> Kang, Seong-Hyuk Jo, &amp; Jeong-Woo </a:t>
            </a:r>
            <a:r>
              <a:rPr lang="en-IN" dirty="0" err="1"/>
              <a:t>Jwa</a:t>
            </a:r>
            <a:r>
              <a:rPr lang="en-IN" dirty="0"/>
              <a:t>. (2023). Personal Smart Travel Planner Service. International Journal of Advanced Culture Technology, 11(4), 385-392. </a:t>
            </a:r>
          </a:p>
          <a:p>
            <a:pPr algn="just"/>
            <a:endParaRPr lang="en-IN" dirty="0"/>
          </a:p>
          <a:p>
            <a:pPr algn="just"/>
            <a:r>
              <a:rPr lang="en-IN" dirty="0"/>
              <a:t>8.Malasek, J. (2015). Smart Travel Planner for Urban Sustainability. Cybernetics and Information Technologies, 15(5), Special Issue on Control in Transportation Systems, 110-120. </a:t>
            </a:r>
          </a:p>
          <a:p>
            <a:pPr algn="just"/>
            <a:endParaRPr lang="en-IN" dirty="0"/>
          </a:p>
          <a:p>
            <a:pPr algn="just"/>
            <a:r>
              <a:rPr lang="en-IN" dirty="0"/>
              <a:t>9. </a:t>
            </a:r>
            <a:r>
              <a:rPr lang="en-IN" dirty="0" err="1"/>
              <a:t>Jwa</a:t>
            </a:r>
            <a:r>
              <a:rPr lang="en-IN" dirty="0"/>
              <a:t>, </a:t>
            </a:r>
            <a:r>
              <a:rPr lang="en-IN" dirty="0" err="1"/>
              <a:t>JeongWoo</a:t>
            </a:r>
            <a:r>
              <a:rPr lang="en-IN" dirty="0"/>
              <a:t>. "Development of Personalized Travel Products for Smart Tour Guidance Services." International Journal of Engineering &amp; Technology, vol. 7, no. 3.33, 2018, pp. 58-61. Available under the Creative Commons Attribution License. </a:t>
            </a:r>
          </a:p>
          <a:p>
            <a:pPr algn="just"/>
            <a:endParaRPr lang="en-IN" dirty="0"/>
          </a:p>
          <a:p>
            <a:pPr algn="just"/>
            <a:r>
              <a:rPr lang="en-IN" dirty="0"/>
              <a:t>10. Lu, Eric Hsueh-Chan, Shih-Hsin Fang, and Vincent S. Tseng. "Integrating Tourist Packages and Tourist Attractions for Personalized Trip Planning Based on Travel Constraints." </a:t>
            </a:r>
            <a:r>
              <a:rPr lang="en-IN" dirty="0" err="1"/>
              <a:t>GeoInformatica</a:t>
            </a:r>
            <a:r>
              <a:rPr lang="en-IN" dirty="0"/>
              <a:t>, vol. 20, no. 4, 2016, pp. 741-763. </a:t>
            </a:r>
          </a:p>
        </p:txBody>
      </p:sp>
      <p:sp>
        <p:nvSpPr>
          <p:cNvPr id="5" name="TextBox 4">
            <a:extLst>
              <a:ext uri="{FF2B5EF4-FFF2-40B4-BE49-F238E27FC236}">
                <a16:creationId xmlns:a16="http://schemas.microsoft.com/office/drawing/2014/main" id="{1765FF95-56B7-AF85-B1B0-919A2B8AA621}"/>
              </a:ext>
            </a:extLst>
          </p:cNvPr>
          <p:cNvSpPr txBox="1"/>
          <p:nvPr/>
        </p:nvSpPr>
        <p:spPr>
          <a:xfrm>
            <a:off x="1840584" y="776867"/>
            <a:ext cx="6094428" cy="523220"/>
          </a:xfrm>
          <a:prstGeom prst="rect">
            <a:avLst/>
          </a:prstGeom>
          <a:noFill/>
        </p:spPr>
        <p:txBody>
          <a:bodyPr wrap="square">
            <a:spAutoFit/>
          </a:bodyPr>
          <a:lstStyle/>
          <a:p>
            <a:r>
              <a:rPr lang="en-IN" sz="2800" b="1" u="sng" dirty="0"/>
              <a:t>References:</a:t>
            </a:r>
          </a:p>
        </p:txBody>
      </p:sp>
    </p:spTree>
    <p:extLst>
      <p:ext uri="{BB962C8B-B14F-4D97-AF65-F5344CB8AC3E}">
        <p14:creationId xmlns:p14="http://schemas.microsoft.com/office/powerpoint/2010/main" val="3361987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939CDC5-7BCF-929C-7175-F6AF75751E91}"/>
              </a:ext>
            </a:extLst>
          </p:cNvPr>
          <p:cNvSpPr txBox="1"/>
          <p:nvPr/>
        </p:nvSpPr>
        <p:spPr>
          <a:xfrm>
            <a:off x="2509886" y="1627491"/>
            <a:ext cx="8425206" cy="4801314"/>
          </a:xfrm>
          <a:prstGeom prst="rect">
            <a:avLst/>
          </a:prstGeom>
          <a:noFill/>
        </p:spPr>
        <p:txBody>
          <a:bodyPr wrap="square">
            <a:spAutoFit/>
          </a:bodyPr>
          <a:lstStyle/>
          <a:p>
            <a:pPr algn="just"/>
            <a:r>
              <a:rPr lang="en-IN" dirty="0"/>
              <a:t>11. Hu, </a:t>
            </a:r>
            <a:r>
              <a:rPr lang="en-IN" dirty="0" err="1"/>
              <a:t>Wenqi</a:t>
            </a:r>
            <a:r>
              <a:rPr lang="en-IN" dirty="0"/>
              <a:t>, Russell G. Thompson, and Asif M. Zaman. "Active Transport Journey Planner Methodology." ResearchGate, uploaded on November 12, 2018. </a:t>
            </a:r>
          </a:p>
          <a:p>
            <a:pPr algn="just"/>
            <a:endParaRPr lang="en-IN" dirty="0"/>
          </a:p>
          <a:p>
            <a:pPr algn="just"/>
            <a:r>
              <a:rPr lang="en-IN" dirty="0"/>
              <a:t>12. Majid Mohammad </a:t>
            </a:r>
            <a:r>
              <a:rPr lang="en-IN" dirty="0" err="1"/>
              <a:t>Shafiee</a:t>
            </a:r>
            <a:r>
              <a:rPr lang="en-IN" dirty="0"/>
              <a:t>. (2024). Navigating Overtourism Destinations: Leveraging Smart Tourism Solutions for Sustainable Travel Experience. Smart Tourism, 5(2), 2841. </a:t>
            </a:r>
          </a:p>
          <a:p>
            <a:pPr algn="just"/>
            <a:endParaRPr lang="en-IN" dirty="0"/>
          </a:p>
          <a:p>
            <a:pPr algn="just"/>
            <a:r>
              <a:rPr lang="en-IN" dirty="0"/>
              <a:t>13. "A smart Travel Survey: Results of a push-to-smart field experiment in the Netherlands", authored by Barry Schouten, </a:t>
            </a:r>
            <a:r>
              <a:rPr lang="en-IN" dirty="0" err="1"/>
              <a:t>Daniëlle</a:t>
            </a:r>
            <a:r>
              <a:rPr lang="en-IN" dirty="0"/>
              <a:t> </a:t>
            </a:r>
            <a:r>
              <a:rPr lang="en-IN" dirty="0" err="1"/>
              <a:t>Remmerswaal</a:t>
            </a:r>
            <a:r>
              <a:rPr lang="en-IN" dirty="0"/>
              <a:t>, Anne </a:t>
            </a:r>
            <a:r>
              <a:rPr lang="en-IN" dirty="0" err="1"/>
              <a:t>Elevelt</a:t>
            </a:r>
            <a:r>
              <a:rPr lang="en-IN" dirty="0"/>
              <a:t>, </a:t>
            </a:r>
            <a:r>
              <a:rPr lang="en-IN" dirty="0" err="1"/>
              <a:t>Jelmer</a:t>
            </a:r>
            <a:r>
              <a:rPr lang="en-IN" dirty="0"/>
              <a:t> de Groot, Jonas </a:t>
            </a:r>
            <a:r>
              <a:rPr lang="en-IN" dirty="0" err="1"/>
              <a:t>Klingwort</a:t>
            </a:r>
            <a:r>
              <a:rPr lang="en-IN" dirty="0"/>
              <a:t>, Tim </a:t>
            </a:r>
            <a:r>
              <a:rPr lang="en-IN" dirty="0" err="1"/>
              <a:t>Schijvenaars</a:t>
            </a:r>
            <a:r>
              <a:rPr lang="en-IN" dirty="0"/>
              <a:t>, Marleen Schulte, and Mike </a:t>
            </a:r>
            <a:r>
              <a:rPr lang="en-IN" dirty="0" err="1"/>
              <a:t>Vollebregt</a:t>
            </a:r>
            <a:r>
              <a:rPr lang="en-IN" dirty="0"/>
              <a:t>. </a:t>
            </a:r>
          </a:p>
          <a:p>
            <a:pPr algn="just"/>
            <a:endParaRPr lang="en-IN" dirty="0"/>
          </a:p>
          <a:p>
            <a:pPr algn="just"/>
            <a:r>
              <a:rPr lang="en-IN" dirty="0"/>
              <a:t>14. Travel Smart, Spend Smart: The Intersection of Tourism and Financial Planning" by </a:t>
            </a:r>
            <a:r>
              <a:rPr lang="en-IN" dirty="0" err="1"/>
              <a:t>Ainur</a:t>
            </a:r>
            <a:r>
              <a:rPr lang="en-IN" dirty="0"/>
              <a:t> </a:t>
            </a:r>
            <a:r>
              <a:rPr lang="en-IN" dirty="0" err="1"/>
              <a:t>Shafiqah</a:t>
            </a:r>
            <a:r>
              <a:rPr lang="en-IN" dirty="0"/>
              <a:t> Binti </a:t>
            </a:r>
            <a:r>
              <a:rPr lang="en-IN" dirty="0" err="1"/>
              <a:t>Shahrul</a:t>
            </a:r>
            <a:r>
              <a:rPr lang="en-IN" dirty="0"/>
              <a:t> Nizam, affiliated with the School of Economic, Finance &amp; Banking, </a:t>
            </a:r>
            <a:r>
              <a:rPr lang="en-IN" dirty="0" err="1"/>
              <a:t>Universiti</a:t>
            </a:r>
            <a:r>
              <a:rPr lang="en-IN" dirty="0"/>
              <a:t> Utara Malaysia. </a:t>
            </a:r>
          </a:p>
          <a:p>
            <a:pPr algn="just"/>
            <a:endParaRPr lang="en-IN" dirty="0"/>
          </a:p>
          <a:p>
            <a:pPr algn="just"/>
            <a:r>
              <a:rPr lang="en-IN" dirty="0"/>
              <a:t>15.Dong, Z., Zhang, J., Gong, X., &amp; Wang, L. (2024). The Role of Smart Travel Service in Intercity Travel Satisfaction: Does Traveler Heterogeneity Matter? Sustainability, 16(7448).</a:t>
            </a:r>
          </a:p>
        </p:txBody>
      </p:sp>
      <p:sp>
        <p:nvSpPr>
          <p:cNvPr id="7" name="TextBox 6">
            <a:extLst>
              <a:ext uri="{FF2B5EF4-FFF2-40B4-BE49-F238E27FC236}">
                <a16:creationId xmlns:a16="http://schemas.microsoft.com/office/drawing/2014/main" id="{AD49D9E1-2D90-B008-61AA-E81ADF45D254}"/>
              </a:ext>
            </a:extLst>
          </p:cNvPr>
          <p:cNvSpPr txBox="1"/>
          <p:nvPr/>
        </p:nvSpPr>
        <p:spPr>
          <a:xfrm>
            <a:off x="1840585" y="758014"/>
            <a:ext cx="6094428" cy="523220"/>
          </a:xfrm>
          <a:prstGeom prst="rect">
            <a:avLst/>
          </a:prstGeom>
          <a:noFill/>
        </p:spPr>
        <p:txBody>
          <a:bodyPr wrap="square">
            <a:spAutoFit/>
          </a:bodyPr>
          <a:lstStyle/>
          <a:p>
            <a:r>
              <a:rPr lang="en-IN" sz="2800" b="1" u="sng" dirty="0"/>
              <a:t>References:</a:t>
            </a:r>
          </a:p>
        </p:txBody>
      </p:sp>
    </p:spTree>
    <p:extLst>
      <p:ext uri="{BB962C8B-B14F-4D97-AF65-F5344CB8AC3E}">
        <p14:creationId xmlns:p14="http://schemas.microsoft.com/office/powerpoint/2010/main" val="3209090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owerPoint animate presentation :: Behance">
            <a:extLst>
              <a:ext uri="{FF2B5EF4-FFF2-40B4-BE49-F238E27FC236}">
                <a16:creationId xmlns:a16="http://schemas.microsoft.com/office/drawing/2014/main" id="{F95D4DB5-7BD0-B84B-4ACC-2FA0AAEC25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599" y="269842"/>
            <a:ext cx="9158141" cy="63807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7497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Office 2007 - 2010">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2312</TotalTime>
  <Words>2756</Words>
  <Application>Microsoft Office PowerPoint</Application>
  <PresentationFormat>Widescreen</PresentationFormat>
  <Paragraphs>177</Paragraphs>
  <Slides>21</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Times New Roman</vt:lpstr>
      <vt:lpstr>Wingdings</vt:lpstr>
      <vt:lpstr>Wingdings 3</vt:lpstr>
      <vt:lpstr>Wisp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Adinarayana Reddy Rontala</dc:creator>
  <cp:lastModifiedBy>Adinarayana Reddy Rontala</cp:lastModifiedBy>
  <cp:revision>6</cp:revision>
  <dcterms:created xsi:type="dcterms:W3CDTF">2024-10-20T06:49:05Z</dcterms:created>
  <dcterms:modified xsi:type="dcterms:W3CDTF">2024-11-28T17:37:18Z</dcterms:modified>
</cp:coreProperties>
</file>